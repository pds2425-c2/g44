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aleway"/>
      <p:regular r:id="rId24"/>
      <p:bold r:id="rId25"/>
      <p:italic r:id="rId26"/>
      <p:boldItalic r:id="rId27"/>
    </p:embeddedFont>
    <p:embeddedFont>
      <p:font typeface="Lato"/>
      <p:regular r:id="rId28"/>
      <p:bold r:id="rId29"/>
      <p:italic r:id="rId30"/>
      <p:boldItalic r:id="rId31"/>
    </p:embeddedFont>
    <p:embeddedFont>
      <p:font typeface="Roboto Mono Light"/>
      <p:regular r:id="rId32"/>
      <p:bold r:id="rId33"/>
      <p:italic r:id="rId34"/>
      <p:boldItalic r:id="rId35"/>
    </p:embeddedFont>
    <p:embeddedFont>
      <p:font typeface="Roboto Mono ExtraLight"/>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282CA8-A444-450C-8F9A-98A653A8795C}">
  <a:tblStyle styleId="{4B282CA8-A444-450C-8F9A-98A653A8795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4.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Mono-boldItalic.fntdata"/><Relationship Id="rId24" Type="http://schemas.openxmlformats.org/officeDocument/2006/relationships/font" Target="fonts/Raleway-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33" Type="http://schemas.openxmlformats.org/officeDocument/2006/relationships/font" Target="fonts/RobotoMonoLight-bold.fntdata"/><Relationship Id="rId10" Type="http://schemas.openxmlformats.org/officeDocument/2006/relationships/slide" Target="slides/slide4.xml"/><Relationship Id="rId32" Type="http://schemas.openxmlformats.org/officeDocument/2006/relationships/font" Target="fonts/RobotoMonoLight-regular.fntdata"/><Relationship Id="rId13" Type="http://schemas.openxmlformats.org/officeDocument/2006/relationships/slide" Target="slides/slide7.xml"/><Relationship Id="rId35" Type="http://schemas.openxmlformats.org/officeDocument/2006/relationships/font" Target="fonts/RobotoMonoLight-boldItalic.fntdata"/><Relationship Id="rId12" Type="http://schemas.openxmlformats.org/officeDocument/2006/relationships/slide" Target="slides/slide6.xml"/><Relationship Id="rId34" Type="http://schemas.openxmlformats.org/officeDocument/2006/relationships/font" Target="fonts/RobotoMonoLight-italic.fntdata"/><Relationship Id="rId15" Type="http://schemas.openxmlformats.org/officeDocument/2006/relationships/slide" Target="slides/slide9.xml"/><Relationship Id="rId37" Type="http://schemas.openxmlformats.org/officeDocument/2006/relationships/font" Target="fonts/RobotoMonoExtraLight-bold.fntdata"/><Relationship Id="rId14" Type="http://schemas.openxmlformats.org/officeDocument/2006/relationships/slide" Target="slides/slide8.xml"/><Relationship Id="rId36" Type="http://schemas.openxmlformats.org/officeDocument/2006/relationships/font" Target="fonts/RobotoMonoExtraLight-regular.fntdata"/><Relationship Id="rId17" Type="http://schemas.openxmlformats.org/officeDocument/2006/relationships/slide" Target="slides/slide11.xml"/><Relationship Id="rId39" Type="http://schemas.openxmlformats.org/officeDocument/2006/relationships/font" Target="fonts/RobotoMonoExtraLight-boldItalic.fntdata"/><Relationship Id="rId16" Type="http://schemas.openxmlformats.org/officeDocument/2006/relationships/slide" Target="slides/slide10.xml"/><Relationship Id="rId38" Type="http://schemas.openxmlformats.org/officeDocument/2006/relationships/font" Target="fonts/RobotoMonoExtraLigh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650256fe3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650256fe3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650256fe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650256fe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73a6912e3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73a6912e3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650256fe3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650256fe3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650256fe3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650256fe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7524665c3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7524665c3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773098f13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773098f13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Controllare campi velocemente per sapere cosa contengono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7524665c3_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7524665c3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Prim</a:t>
            </a:r>
            <a:r>
              <a:rPr lang="it"/>
              <a:t>a</a:t>
            </a:r>
            <a:r>
              <a:rPr lang="it"/>
              <a:t> di entrare nel codice Rust, vorrei spiegare la nostra architettura di rete. Per una chat, si potrebbe pensare di gestire ogni singola operazione tramite WebSocket. Noi abbiamo fatto una scelta diversa, optando per un approccio ibrido: API REST da una parte e WebSocket 'Read-Only' dall'altra.</a:t>
            </a:r>
            <a:endParaRPr/>
          </a:p>
          <a:p>
            <a:pPr indent="0" lvl="0" marL="0" rtl="0" algn="l">
              <a:spcBef>
                <a:spcPts val="0"/>
              </a:spcBef>
              <a:spcAft>
                <a:spcPts val="0"/>
              </a:spcAft>
              <a:buClr>
                <a:schemeClr val="dk1"/>
              </a:buClr>
              <a:buSzPts val="1100"/>
              <a:buFont typeface="Arial"/>
              <a:buNone/>
            </a:pPr>
            <a:r>
              <a:rPr lang="it"/>
              <a:t>Abbiamo delegato alle API REST tutte le operazioni sincrone: caricare lo storico dei messaggi, inviare un nuovo messaggio, creare una chat o gestire il login. Perché? Perché HTTP ci offre nativamente tutto ciò di cui abbiamo bisogno: i codici di stato per gestire gli errori in modo pulito (400, 401, 404) e il routing di Axum, che ci permette di validare i permessi tramite gli Extractors prima ancora di eseguire la logica.</a:t>
            </a:r>
            <a:endParaRPr/>
          </a:p>
          <a:p>
            <a:pPr indent="0" lvl="0" marL="0" rtl="0" algn="l">
              <a:spcBef>
                <a:spcPts val="0"/>
              </a:spcBef>
              <a:spcAft>
                <a:spcPts val="0"/>
              </a:spcAft>
              <a:buClr>
                <a:schemeClr val="dk1"/>
              </a:buClr>
              <a:buSzPts val="1100"/>
              <a:buFont typeface="Arial"/>
              <a:buNone/>
            </a:pPr>
            <a:r>
              <a:rPr lang="it"/>
              <a:t>Abbiamo invece limitato il WebSocket a un solo scopo preciso: essere un tubo di scarico unidirezionale (dal server al client) per gli eventi in tempo reale. Il client non usa mai il WebSocket per inviare dati, lo usa solo per ascoltare (ad esempio: 'è arrivato un nuovo messaggio', 'sei stato invitato in un gruppo').</a:t>
            </a:r>
            <a:endParaRPr/>
          </a:p>
          <a:p>
            <a:pPr indent="0" lvl="0" marL="0" rtl="0" algn="l">
              <a:spcBef>
                <a:spcPts val="0"/>
              </a:spcBef>
              <a:spcAft>
                <a:spcPts val="0"/>
              </a:spcAft>
              <a:buClr>
                <a:schemeClr val="dk1"/>
              </a:buClr>
              <a:buSzPts val="1100"/>
              <a:buFont typeface="Arial"/>
              <a:buNone/>
            </a:pPr>
            <a:r>
              <a:rPr lang="it"/>
              <a:t>Questa divisione netta ci ha salvato da un'enorme complessità architetturale: se avessimo usato il WebSocket per l'invio dei messaggi, avremmo dovuto reinventare un sistema di routing interno, gestire l'autenticazione pacchetto per pacchetto e creare meccanismi per abbinare le risposte di errore alle richieste del client. Con questo approccio ibrido, ogni tecnologia fa esattamente ciò per cui è nata.</a:t>
            </a:r>
            <a:endParaRPr/>
          </a:p>
          <a:p>
            <a:pPr indent="0" lvl="0" marL="0" rtl="0" algn="l">
              <a:spcBef>
                <a:spcPts val="0"/>
              </a:spcBef>
              <a:spcAft>
                <a:spcPts val="0"/>
              </a:spcAft>
              <a:buClr>
                <a:schemeClr val="dk1"/>
              </a:buClr>
              <a:buSzPts val="1100"/>
              <a:buFont typeface="Arial"/>
              <a:buNone/>
            </a:pPr>
            <a:r>
              <a:rPr lang="it"/>
              <a:t>Ma affinché un endpoint REST (che riceve un messaggio) possa 'svegliare' il WebSocket (per notificare gli altri), serve una memoria condivisa... ed è qui che entra in gioco il nostro AppState</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80093a748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80093a748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80093a748_3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80093a748_3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80093a748_3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80093a748_3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80093a748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d80093a748_3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80093a748_3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80093a748_3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75b29a005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75b29a005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Problemi di usare direttamente il ws_sender invece dei canali:</a:t>
            </a:r>
            <a:br>
              <a:rPr lang="it"/>
            </a:br>
            <a:r>
              <a:rPr lang="it"/>
              <a:t>1. L’utilizzo di ws_sender per l’invio dei messaggi richiede mutabilità esclusiva (`&amp;mut self`), quindi avrei dovuto racchiuderlo dentro un mutex</a:t>
            </a:r>
            <a:br>
              <a:rPr lang="it"/>
            </a:br>
            <a:r>
              <a:rPr lang="it"/>
              <a:t>2. Non si tiene mai un lock durante il .await relativo alla send di ws_sender. La latenza del client potrebbe bloccare la hashmap condivisa.</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Si usano e si salvano i canali MPSC:</a:t>
            </a:r>
            <a:endParaRPr/>
          </a:p>
          <a:p>
            <a:pPr indent="0" lvl="0" marL="0" rtl="0" algn="l">
              <a:spcBef>
                <a:spcPts val="0"/>
              </a:spcBef>
              <a:spcAft>
                <a:spcPts val="0"/>
              </a:spcAft>
              <a:buNone/>
            </a:pPr>
            <a:r>
              <a:rPr lang="it"/>
              <a:t>1.</a:t>
            </a:r>
            <a:r>
              <a:rPr lang="it">
                <a:solidFill>
                  <a:schemeClr val="dk1"/>
                </a:solidFill>
              </a:rPr>
              <a:t> </a:t>
            </a:r>
            <a:r>
              <a:rPr lang="it"/>
              <a:t>L’invio sul canale (nell’handler della route post relativo all’invio di un messaggio) è n RAM, quindi istantaneo e non bloccante</a:t>
            </a:r>
            <a:endParaRPr/>
          </a:p>
          <a:p>
            <a:pPr indent="0" lvl="0" marL="0" rtl="0" algn="l">
              <a:spcBef>
                <a:spcPts val="0"/>
              </a:spcBef>
              <a:spcAft>
                <a:spcPts val="0"/>
              </a:spcAft>
              <a:buNone/>
            </a:pPr>
            <a:r>
              <a:rPr lang="it"/>
              <a:t>2. Per poter inviare un messaggio sul canale il sender richiede solo una reference immutabile ed è facile da clonare</a:t>
            </a:r>
            <a:endParaRPr/>
          </a:p>
          <a:p>
            <a:pPr indent="0" lvl="0" marL="0" rtl="0" algn="l">
              <a:spcBef>
                <a:spcPts val="0"/>
              </a:spcBef>
              <a:spcAft>
                <a:spcPts val="0"/>
              </a:spcAft>
              <a:buNone/>
            </a:pPr>
            <a:r>
              <a:rPr lang="it"/>
              <a:t>3. disaccoppiamento I/O</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80093a74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80093a74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Problemi di usare direttamente il ws_sender invece dei canali:</a:t>
            </a:r>
            <a:br>
              <a:rPr lang="it"/>
            </a:br>
            <a:r>
              <a:rPr lang="it"/>
              <a:t>1. L’utilizzo di ws_sender per l’invio dei messaggi richiede mutabilità esclusiva (`&amp;mut self`), quindi avrei dovuto racchiuderlo dentro un mutex</a:t>
            </a:r>
            <a:br>
              <a:rPr lang="it"/>
            </a:br>
            <a:r>
              <a:rPr lang="it"/>
              <a:t>2. Non si tiene mai un lock durante il .await relativo alla send di ws_sender. La latenza del client potrebbe bloccare la hashmap condivisa.</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Si usano e si salvano i canali MPSC:</a:t>
            </a:r>
            <a:endParaRPr/>
          </a:p>
          <a:p>
            <a:pPr indent="0" lvl="0" marL="0" rtl="0" algn="l">
              <a:spcBef>
                <a:spcPts val="0"/>
              </a:spcBef>
              <a:spcAft>
                <a:spcPts val="0"/>
              </a:spcAft>
              <a:buNone/>
            </a:pPr>
            <a:r>
              <a:rPr lang="it"/>
              <a:t>1.</a:t>
            </a:r>
            <a:r>
              <a:rPr lang="it">
                <a:solidFill>
                  <a:schemeClr val="dk1"/>
                </a:solidFill>
              </a:rPr>
              <a:t> </a:t>
            </a:r>
            <a:r>
              <a:rPr lang="it"/>
              <a:t>L’invio sul canale (nell’handler della route post relativo all’invio di un messaggio) è n RAM, quindi istantaneo e non bloccante</a:t>
            </a:r>
            <a:endParaRPr/>
          </a:p>
          <a:p>
            <a:pPr indent="0" lvl="0" marL="0" rtl="0" algn="l">
              <a:spcBef>
                <a:spcPts val="0"/>
              </a:spcBef>
              <a:spcAft>
                <a:spcPts val="0"/>
              </a:spcAft>
              <a:buNone/>
            </a:pPr>
            <a:r>
              <a:rPr lang="it"/>
              <a:t>2. Per poter inviare un messaggio sul canale il sender richiede solo una reference immutabile ed è facile da clonare</a:t>
            </a:r>
            <a:endParaRPr/>
          </a:p>
          <a:p>
            <a:pPr indent="0" lvl="0" marL="0" rtl="0" algn="l">
              <a:spcBef>
                <a:spcPts val="0"/>
              </a:spcBef>
              <a:spcAft>
                <a:spcPts val="0"/>
              </a:spcAft>
              <a:buNone/>
            </a:pPr>
            <a:r>
              <a:rPr lang="it"/>
              <a:t>3. disaccoppiamento I/O</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80093a748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80093a748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rpo (g3d75b29a005_7_0)">
  <p:cSld name="Titolo e corpo (g3d75b29a005_7_0)">
    <p:spTree>
      <p:nvGrpSpPr>
        <p:cNvPr id="68" name="Shape 68"/>
        <p:cNvGrpSpPr/>
        <p:nvPr/>
      </p:nvGrpSpPr>
      <p:grpSpPr>
        <a:xfrm>
          <a:off x="0" y="0"/>
          <a:ext cx="0" cy="0"/>
          <a:chOff x="0" y="0"/>
          <a:chExt cx="0" cy="0"/>
        </a:xfrm>
      </p:grpSpPr>
      <p:sp>
        <p:nvSpPr>
          <p:cNvPr id="69" name="Google Shape;69;p13"/>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0" name="Google Shape;70;p13"/>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1" name="Google Shape;71;p1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rpo (g3d75b29a005_14_0)">
  <p:cSld name="Titolo e corpo (g3d75b29a005_14_0)">
    <p:spTree>
      <p:nvGrpSpPr>
        <p:cNvPr id="72" name="Shape 72"/>
        <p:cNvGrpSpPr/>
        <p:nvPr/>
      </p:nvGrpSpPr>
      <p:grpSpPr>
        <a:xfrm>
          <a:off x="0" y="0"/>
          <a:ext cx="0" cy="0"/>
          <a:chOff x="0" y="0"/>
          <a:chExt cx="0" cy="0"/>
        </a:xfrm>
      </p:grpSpPr>
      <p:sp>
        <p:nvSpPr>
          <p:cNvPr id="73" name="Google Shape;73;p1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 name="Google Shape;74;p1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 name="Google Shape;75;p1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rpo (g3d773098f13_7_0)">
  <p:cSld name="Titolo e corpo (g3d773098f13_7_0)">
    <p:spTree>
      <p:nvGrpSpPr>
        <p:cNvPr id="76" name="Shape 76"/>
        <p:cNvGrpSpPr/>
        <p:nvPr/>
      </p:nvGrpSpPr>
      <p:grpSpPr>
        <a:xfrm>
          <a:off x="0" y="0"/>
          <a:ext cx="0" cy="0"/>
          <a:chOff x="0" y="0"/>
          <a:chExt cx="0" cy="0"/>
        </a:xfrm>
      </p:grpSpPr>
      <p:sp>
        <p:nvSpPr>
          <p:cNvPr id="77" name="Google Shape;77;p1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8" name="Google Shape;78;p15"/>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9" name="Google Shape;79;p1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rpo (g3d773098f13_16_0)">
  <p:cSld name="Titolo e corpo (g3d773098f13_16_0)">
    <p:spTree>
      <p:nvGrpSpPr>
        <p:cNvPr id="80" name="Shape 80"/>
        <p:cNvGrpSpPr/>
        <p:nvPr/>
      </p:nvGrpSpPr>
      <p:grpSpPr>
        <a:xfrm>
          <a:off x="0" y="0"/>
          <a:ext cx="0" cy="0"/>
          <a:chOff x="0" y="0"/>
          <a:chExt cx="0" cy="0"/>
        </a:xfrm>
      </p:grpSpPr>
      <p:sp>
        <p:nvSpPr>
          <p:cNvPr id="81" name="Google Shape;81;p16"/>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 name="Google Shape;82;p16"/>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 name="Google Shape;83;p1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rpo (g3d773098f13_24_0)">
  <p:cSld name="Titolo e corpo (g3d773098f13_24_0)">
    <p:spTree>
      <p:nvGrpSpPr>
        <p:cNvPr id="84" name="Shape 84"/>
        <p:cNvGrpSpPr/>
        <p:nvPr/>
      </p:nvGrpSpPr>
      <p:grpSpPr>
        <a:xfrm>
          <a:off x="0" y="0"/>
          <a:ext cx="0" cy="0"/>
          <a:chOff x="0" y="0"/>
          <a:chExt cx="0" cy="0"/>
        </a:xfrm>
      </p:grpSpPr>
      <p:sp>
        <p:nvSpPr>
          <p:cNvPr id="85" name="Google Shape;85;p17"/>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 name="Google Shape;86;p17"/>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7" name="Google Shape;87;p1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Ruggine</a:t>
            </a:r>
            <a:endParaRPr/>
          </a:p>
        </p:txBody>
      </p:sp>
      <p:sp>
        <p:nvSpPr>
          <p:cNvPr id="93" name="Google Shape;93;p18"/>
          <p:cNvSpPr txBox="1"/>
          <p:nvPr>
            <p:ph idx="1" type="subTitle"/>
          </p:nvPr>
        </p:nvSpPr>
        <p:spPr>
          <a:xfrm>
            <a:off x="2334825" y="3260575"/>
            <a:ext cx="6405300" cy="139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Alessio Perrotti: 356737</a:t>
            </a:r>
            <a:endParaRPr/>
          </a:p>
          <a:p>
            <a:pPr indent="0" lvl="0" marL="0" rtl="0" algn="l">
              <a:spcBef>
                <a:spcPts val="0"/>
              </a:spcBef>
              <a:spcAft>
                <a:spcPts val="0"/>
              </a:spcAft>
              <a:buNone/>
            </a:pPr>
            <a:r>
              <a:rPr lang="it"/>
              <a:t>Alberto Nuzzaci: 346977</a:t>
            </a:r>
            <a:endParaRPr/>
          </a:p>
          <a:p>
            <a:pPr indent="0" lvl="0" marL="0" rtl="0" algn="l">
              <a:spcBef>
                <a:spcPts val="0"/>
              </a:spcBef>
              <a:spcAft>
                <a:spcPts val="0"/>
              </a:spcAft>
              <a:buNone/>
            </a:pPr>
            <a:r>
              <a:rPr lang="it"/>
              <a:t>Riccardo Vaccari: 348856</a:t>
            </a:r>
            <a:endParaRPr/>
          </a:p>
          <a:p>
            <a:pPr indent="0" lvl="0" marL="0" rtl="0" algn="l">
              <a:spcBef>
                <a:spcPts val="0"/>
              </a:spcBef>
              <a:spcAft>
                <a:spcPts val="0"/>
              </a:spcAft>
              <a:buClr>
                <a:schemeClr val="dk2"/>
              </a:buClr>
              <a:buSzPts val="1100"/>
              <a:buFont typeface="Arial"/>
              <a:buNone/>
            </a:pPr>
            <a:r>
              <a:rPr lang="it"/>
              <a:t>Luca Lodesani: 346978</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Obiettivi del progetto</a:t>
            </a:r>
            <a:endParaRPr/>
          </a:p>
        </p:txBody>
      </p:sp>
      <p:sp>
        <p:nvSpPr>
          <p:cNvPr id="99" name="Google Shape;99;p19"/>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Ruggine è un app di chat in tempo reale con le seguenti funzionalità:</a:t>
            </a:r>
            <a:endParaRPr/>
          </a:p>
          <a:p>
            <a:pPr indent="-342900" lvl="0" marL="457200" rtl="0" algn="l">
              <a:spcBef>
                <a:spcPts val="1200"/>
              </a:spcBef>
              <a:spcAft>
                <a:spcPts val="0"/>
              </a:spcAft>
              <a:buSzPts val="1800"/>
              <a:buChar char="●"/>
            </a:pPr>
            <a:r>
              <a:rPr lang="it"/>
              <a:t>Chat Private &amp; Chat di Gruppo</a:t>
            </a:r>
            <a:endParaRPr/>
          </a:p>
          <a:p>
            <a:pPr indent="-342900" lvl="0" marL="457200" rtl="0" algn="l">
              <a:spcBef>
                <a:spcPts val="0"/>
              </a:spcBef>
              <a:spcAft>
                <a:spcPts val="0"/>
              </a:spcAft>
              <a:buSzPts val="1800"/>
              <a:buChar char="●"/>
            </a:pPr>
            <a:r>
              <a:rPr lang="it"/>
              <a:t>Inviti alla partecipazione di un gruppo</a:t>
            </a:r>
            <a:endParaRPr/>
          </a:p>
          <a:p>
            <a:pPr indent="-342900" lvl="0" marL="457200" rtl="0" algn="l">
              <a:spcBef>
                <a:spcPts val="0"/>
              </a:spcBef>
              <a:spcAft>
                <a:spcPts val="0"/>
              </a:spcAft>
              <a:buSzPts val="1800"/>
              <a:buChar char="●"/>
            </a:pPr>
            <a:r>
              <a:rPr lang="it"/>
              <a:t>Messaggi in tempo reale tra i membri della chat</a:t>
            </a:r>
            <a:endParaRPr/>
          </a:p>
          <a:p>
            <a:pPr indent="-342900" lvl="0" marL="457200" rtl="0" algn="l">
              <a:spcBef>
                <a:spcPts val="0"/>
              </a:spcBef>
              <a:spcAft>
                <a:spcPts val="0"/>
              </a:spcAft>
              <a:buSzPts val="1800"/>
              <a:buChar char="●"/>
            </a:pPr>
            <a:r>
              <a:rPr lang="it"/>
              <a:t>Accettazione/Rifiuto invito a un gruppo</a:t>
            </a:r>
            <a:endParaRPr/>
          </a:p>
          <a:p>
            <a:pPr indent="-342900" lvl="0" marL="457200" rtl="0" algn="l">
              <a:spcBef>
                <a:spcPts val="0"/>
              </a:spcBef>
              <a:spcAft>
                <a:spcPts val="0"/>
              </a:spcAft>
              <a:buSzPts val="1800"/>
              <a:buChar char="●"/>
            </a:pPr>
            <a:r>
              <a:rPr lang="it"/>
              <a:t>Abbandono di un gruppo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a:t>
            </a:r>
            <a:endParaRPr/>
          </a:p>
        </p:txBody>
      </p:sp>
      <p:sp>
        <p:nvSpPr>
          <p:cNvPr id="105" name="Google Shape;105;p20"/>
          <p:cNvSpPr/>
          <p:nvPr/>
        </p:nvSpPr>
        <p:spPr>
          <a:xfrm>
            <a:off x="2506600" y="1651513"/>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it">
                <a:solidFill>
                  <a:schemeClr val="dk2"/>
                </a:solidFill>
                <a:latin typeface="Lato"/>
                <a:ea typeface="Lato"/>
                <a:cs typeface="Lato"/>
                <a:sym typeface="Lato"/>
              </a:rPr>
              <a:t>Client</a:t>
            </a:r>
            <a:endParaRPr>
              <a:latin typeface="Lato"/>
              <a:ea typeface="Lato"/>
              <a:cs typeface="Lato"/>
              <a:sym typeface="Lato"/>
            </a:endParaRPr>
          </a:p>
        </p:txBody>
      </p:sp>
      <p:sp>
        <p:nvSpPr>
          <p:cNvPr id="106" name="Google Shape;106;p20"/>
          <p:cNvSpPr/>
          <p:nvPr/>
        </p:nvSpPr>
        <p:spPr>
          <a:xfrm>
            <a:off x="2506600" y="2985588"/>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Server</a:t>
            </a:r>
            <a:endParaRPr>
              <a:latin typeface="Lato"/>
              <a:ea typeface="Lato"/>
              <a:cs typeface="Lato"/>
              <a:sym typeface="Lato"/>
            </a:endParaRPr>
          </a:p>
        </p:txBody>
      </p:sp>
      <p:cxnSp>
        <p:nvCxnSpPr>
          <p:cNvPr id="107" name="Google Shape;107;p20"/>
          <p:cNvCxnSpPr>
            <a:stCxn id="105" idx="2"/>
            <a:endCxn id="106" idx="0"/>
          </p:cNvCxnSpPr>
          <p:nvPr/>
        </p:nvCxnSpPr>
        <p:spPr>
          <a:xfrm>
            <a:off x="3034150" y="2157913"/>
            <a:ext cx="0" cy="827700"/>
          </a:xfrm>
          <a:prstGeom prst="straightConnector1">
            <a:avLst/>
          </a:prstGeom>
          <a:noFill/>
          <a:ln cap="flat" cmpd="sng" w="9525">
            <a:solidFill>
              <a:schemeClr val="dk2"/>
            </a:solidFill>
            <a:prstDash val="solid"/>
            <a:round/>
            <a:headEnd len="med" w="med" type="triangle"/>
            <a:tailEnd len="med" w="med" type="triangle"/>
          </a:ln>
        </p:spPr>
      </p:cxnSp>
      <p:pic>
        <p:nvPicPr>
          <p:cNvPr id="108" name="Google Shape;108;p20"/>
          <p:cNvPicPr preferRelativeResize="0"/>
          <p:nvPr/>
        </p:nvPicPr>
        <p:blipFill>
          <a:blip r:embed="rId3">
            <a:alphaModFix/>
          </a:blip>
          <a:stretch>
            <a:fillRect/>
          </a:stretch>
        </p:blipFill>
        <p:spPr>
          <a:xfrm>
            <a:off x="5490837" y="1587025"/>
            <a:ext cx="731453" cy="635400"/>
          </a:xfrm>
          <a:prstGeom prst="rect">
            <a:avLst/>
          </a:prstGeom>
          <a:noFill/>
          <a:ln>
            <a:noFill/>
          </a:ln>
        </p:spPr>
      </p:pic>
      <p:pic>
        <p:nvPicPr>
          <p:cNvPr id="109" name="Google Shape;109;p20"/>
          <p:cNvPicPr preferRelativeResize="0"/>
          <p:nvPr/>
        </p:nvPicPr>
        <p:blipFill rotWithShape="1">
          <a:blip r:embed="rId4">
            <a:alphaModFix/>
          </a:blip>
          <a:srcRect b="15699" l="26101" r="25841" t="13774"/>
          <a:stretch/>
        </p:blipFill>
        <p:spPr>
          <a:xfrm>
            <a:off x="5495201" y="2885350"/>
            <a:ext cx="722724" cy="706899"/>
          </a:xfrm>
          <a:prstGeom prst="rect">
            <a:avLst/>
          </a:prstGeom>
          <a:noFill/>
          <a:ln>
            <a:noFill/>
          </a:ln>
        </p:spPr>
      </p:pic>
      <p:sp>
        <p:nvSpPr>
          <p:cNvPr id="110" name="Google Shape;110;p20"/>
          <p:cNvSpPr txBox="1"/>
          <p:nvPr/>
        </p:nvSpPr>
        <p:spPr>
          <a:xfrm>
            <a:off x="5536625" y="2185500"/>
            <a:ext cx="639900" cy="5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dk2"/>
                </a:solidFill>
                <a:latin typeface="Lato"/>
                <a:ea typeface="Lato"/>
                <a:cs typeface="Lato"/>
                <a:sym typeface="Lato"/>
              </a:rPr>
              <a:t>React</a:t>
            </a:r>
            <a:endParaRPr>
              <a:solidFill>
                <a:schemeClr val="dk2"/>
              </a:solidFill>
              <a:latin typeface="Lato"/>
              <a:ea typeface="Lato"/>
              <a:cs typeface="Lato"/>
              <a:sym typeface="Lato"/>
            </a:endParaRPr>
          </a:p>
        </p:txBody>
      </p:sp>
      <p:sp>
        <p:nvSpPr>
          <p:cNvPr id="111" name="Google Shape;111;p20"/>
          <p:cNvSpPr txBox="1"/>
          <p:nvPr/>
        </p:nvSpPr>
        <p:spPr>
          <a:xfrm>
            <a:off x="5582384" y="3535400"/>
            <a:ext cx="548400" cy="5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dk2"/>
                </a:solidFill>
                <a:latin typeface="Lato"/>
                <a:ea typeface="Lato"/>
                <a:cs typeface="Lato"/>
                <a:sym typeface="Lato"/>
              </a:rPr>
              <a:t>Rust</a:t>
            </a:r>
            <a:endParaRPr>
              <a:solidFill>
                <a:schemeClr val="dk2"/>
              </a:solidFill>
              <a:latin typeface="Lato"/>
              <a:ea typeface="Lato"/>
              <a:cs typeface="Lato"/>
              <a:sym typeface="Lato"/>
            </a:endParaRPr>
          </a:p>
        </p:txBody>
      </p:sp>
      <p:sp>
        <p:nvSpPr>
          <p:cNvPr id="112" name="Google Shape;112;p20"/>
          <p:cNvSpPr/>
          <p:nvPr/>
        </p:nvSpPr>
        <p:spPr>
          <a:xfrm rot="-5400000">
            <a:off x="4004650" y="758575"/>
            <a:ext cx="1406400" cy="2292300"/>
          </a:xfrm>
          <a:prstGeom prst="triangle">
            <a:avLst>
              <a:gd fmla="val 49513" name="adj"/>
            </a:avLst>
          </a:prstGeom>
          <a:gradFill>
            <a:gsLst>
              <a:gs pos="0">
                <a:srgbClr val="FFFFFF">
                  <a:alpha val="0"/>
                </a:srgbClr>
              </a:gs>
              <a:gs pos="100000">
                <a:srgbClr val="D2E2F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 name="Google Shape;113;p20"/>
          <p:cNvSpPr/>
          <p:nvPr/>
        </p:nvSpPr>
        <p:spPr>
          <a:xfrm rot="-5400000">
            <a:off x="4004650" y="2092650"/>
            <a:ext cx="1406400" cy="2292300"/>
          </a:xfrm>
          <a:prstGeom prst="triangle">
            <a:avLst>
              <a:gd fmla="val 49513" name="adj"/>
            </a:avLst>
          </a:prstGeom>
          <a:gradFill>
            <a:gsLst>
              <a:gs pos="0">
                <a:srgbClr val="FFFFFF">
                  <a:alpha val="0"/>
                </a:srgbClr>
              </a:gs>
              <a:gs pos="100000">
                <a:srgbClr val="D2E2F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 - Database</a:t>
            </a:r>
            <a:endParaRPr/>
          </a:p>
        </p:txBody>
      </p:sp>
      <p:pic>
        <p:nvPicPr>
          <p:cNvPr id="119" name="Google Shape;119;p21" title="mermaid-ai-diagram-2026-04-19-100531.png"/>
          <p:cNvPicPr preferRelativeResize="0"/>
          <p:nvPr/>
        </p:nvPicPr>
        <p:blipFill>
          <a:blip r:embed="rId3">
            <a:alphaModFix/>
          </a:blip>
          <a:stretch>
            <a:fillRect/>
          </a:stretch>
        </p:blipFill>
        <p:spPr>
          <a:xfrm>
            <a:off x="1926575" y="1211350"/>
            <a:ext cx="5377848" cy="3355875"/>
          </a:xfrm>
          <a:prstGeom prst="rect">
            <a:avLst/>
          </a:prstGeom>
          <a:noFill/>
          <a:ln>
            <a:noFill/>
          </a:ln>
        </p:spPr>
      </p:pic>
      <p:sp>
        <p:nvSpPr>
          <p:cNvPr id="120" name="Google Shape;120;p21"/>
          <p:cNvSpPr/>
          <p:nvPr/>
        </p:nvSpPr>
        <p:spPr>
          <a:xfrm>
            <a:off x="4958725" y="2127950"/>
            <a:ext cx="892800" cy="145200"/>
          </a:xfrm>
          <a:prstGeom prst="rect">
            <a:avLst/>
          </a:prstGeom>
          <a:solidFill>
            <a:srgbClr val="000000">
              <a:alpha val="0"/>
            </a:srgbClr>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Lato"/>
              <a:ea typeface="Lato"/>
              <a:cs typeface="Lato"/>
              <a:sym typeface="Lato"/>
            </a:endParaRPr>
          </a:p>
        </p:txBody>
      </p:sp>
      <p:sp>
        <p:nvSpPr>
          <p:cNvPr id="121" name="Google Shape;121;p21"/>
          <p:cNvSpPr/>
          <p:nvPr/>
        </p:nvSpPr>
        <p:spPr>
          <a:xfrm>
            <a:off x="2008100" y="4134550"/>
            <a:ext cx="941100" cy="145200"/>
          </a:xfrm>
          <a:prstGeom prst="rect">
            <a:avLst/>
          </a:prstGeom>
          <a:solidFill>
            <a:srgbClr val="000000">
              <a:alpha val="0"/>
            </a:srgbClr>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 - Client Side</a:t>
            </a:r>
            <a:endParaRPr/>
          </a:p>
        </p:txBody>
      </p:sp>
      <p:sp>
        <p:nvSpPr>
          <p:cNvPr id="127" name="Google Shape;127;p22"/>
          <p:cNvSpPr/>
          <p:nvPr/>
        </p:nvSpPr>
        <p:spPr>
          <a:xfrm>
            <a:off x="638907" y="1651500"/>
            <a:ext cx="1055100" cy="506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latin typeface="Lato"/>
                <a:ea typeface="Lato"/>
                <a:cs typeface="Lato"/>
                <a:sym typeface="Lato"/>
              </a:rPr>
              <a:t>Client</a:t>
            </a:r>
            <a:endParaRPr b="1" sz="1600">
              <a:solidFill>
                <a:schemeClr val="lt1"/>
              </a:solidFill>
              <a:latin typeface="Lato"/>
              <a:ea typeface="Lato"/>
              <a:cs typeface="Lato"/>
              <a:sym typeface="Lato"/>
            </a:endParaRPr>
          </a:p>
        </p:txBody>
      </p:sp>
      <p:sp>
        <p:nvSpPr>
          <p:cNvPr id="128" name="Google Shape;128;p22"/>
          <p:cNvSpPr/>
          <p:nvPr/>
        </p:nvSpPr>
        <p:spPr>
          <a:xfrm>
            <a:off x="638907" y="2985575"/>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Server</a:t>
            </a:r>
            <a:endParaRPr>
              <a:latin typeface="Lato"/>
              <a:ea typeface="Lato"/>
              <a:cs typeface="Lato"/>
              <a:sym typeface="Lato"/>
            </a:endParaRPr>
          </a:p>
        </p:txBody>
      </p:sp>
      <p:cxnSp>
        <p:nvCxnSpPr>
          <p:cNvPr id="129" name="Google Shape;129;p22"/>
          <p:cNvCxnSpPr>
            <a:stCxn id="127" idx="2"/>
            <a:endCxn id="128" idx="0"/>
          </p:cNvCxnSpPr>
          <p:nvPr/>
        </p:nvCxnSpPr>
        <p:spPr>
          <a:xfrm>
            <a:off x="1166457" y="2157900"/>
            <a:ext cx="0" cy="827700"/>
          </a:xfrm>
          <a:prstGeom prst="straightConnector1">
            <a:avLst/>
          </a:prstGeom>
          <a:noFill/>
          <a:ln cap="flat" cmpd="sng" w="9525">
            <a:solidFill>
              <a:schemeClr val="dk2"/>
            </a:solidFill>
            <a:prstDash val="solid"/>
            <a:round/>
            <a:headEnd len="med" w="med" type="triangle"/>
            <a:tailEnd len="med" w="med" type="triangle"/>
          </a:ln>
        </p:spPr>
      </p:cxnSp>
      <p:sp>
        <p:nvSpPr>
          <p:cNvPr id="130" name="Google Shape;130;p22"/>
          <p:cNvSpPr txBox="1"/>
          <p:nvPr/>
        </p:nvSpPr>
        <p:spPr>
          <a:xfrm>
            <a:off x="2400250" y="1413425"/>
            <a:ext cx="6321600" cy="2819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100"/>
              </a:spcBef>
              <a:spcAft>
                <a:spcPts val="0"/>
              </a:spcAft>
              <a:buNone/>
            </a:pPr>
            <a:r>
              <a:rPr b="1" lang="it" sz="1800">
                <a:solidFill>
                  <a:schemeClr val="dk1"/>
                </a:solidFill>
                <a:latin typeface="Lato"/>
                <a:ea typeface="Lato"/>
                <a:cs typeface="Lato"/>
                <a:sym typeface="Lato"/>
              </a:rPr>
              <a:t>Reattività State-Driven</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Sincronizzazione automatica UI-Dati per aggiornamenti real-time fluidi</a:t>
            </a:r>
            <a:endParaRPr b="1" sz="1800">
              <a:solidFill>
                <a:schemeClr val="dk1"/>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Stato Globale</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Centralizzazione dei dati per garantire coerenza</a:t>
            </a:r>
            <a:endParaRPr sz="1800">
              <a:solidFill>
                <a:schemeClr val="dk2"/>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Modularità via Custom Hooks</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Logica applicativa isolata in moduli riutilizzabili e snelli</a:t>
            </a:r>
            <a:endParaRPr sz="1800">
              <a:solidFill>
                <a:schemeClr val="dk2"/>
              </a:solidFill>
              <a:latin typeface="Lato"/>
              <a:ea typeface="Lato"/>
              <a:cs typeface="Lato"/>
              <a:sym typeface="Lato"/>
            </a:endParaRPr>
          </a:p>
          <a:p>
            <a:pPr indent="0" lvl="0" marL="0" marR="0" rtl="0" algn="l">
              <a:lnSpc>
                <a:spcPct val="115000"/>
              </a:lnSpc>
              <a:spcBef>
                <a:spcPts val="1100"/>
              </a:spcBef>
              <a:spcAft>
                <a:spcPts val="0"/>
              </a:spcAft>
              <a:buNone/>
            </a:pPr>
            <a:r>
              <a:rPr b="1" lang="it" sz="1800">
                <a:solidFill>
                  <a:schemeClr val="dk1"/>
                </a:solidFill>
                <a:latin typeface="Lato"/>
                <a:ea typeface="Lato"/>
                <a:cs typeface="Lato"/>
                <a:sym typeface="Lato"/>
              </a:rPr>
              <a:t>Cross-platform &amp; Portabilità</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Accesso universale via browser e codice pronto per Mobile/Desktop</a:t>
            </a:r>
            <a:endParaRPr>
              <a:solidFill>
                <a:schemeClr val="dk2"/>
              </a:solidFill>
              <a:latin typeface="Lato"/>
              <a:ea typeface="Lato"/>
              <a:cs typeface="Lato"/>
              <a:sym typeface="Lato"/>
            </a:endParaRPr>
          </a:p>
          <a:p>
            <a:pPr indent="0" lvl="0" marL="0" rtl="0" algn="l">
              <a:lnSpc>
                <a:spcPct val="150000"/>
              </a:lnSpc>
              <a:spcBef>
                <a:spcPts val="1100"/>
              </a:spcBef>
              <a:spcAft>
                <a:spcPts val="0"/>
              </a:spcAft>
              <a:buNone/>
            </a:pPr>
            <a:r>
              <a:t/>
            </a:r>
            <a:endParaRPr sz="1800">
              <a:solidFill>
                <a:schemeClr val="dk2"/>
              </a:solidFill>
              <a:latin typeface="Lato"/>
              <a:ea typeface="Lato"/>
              <a:cs typeface="Lato"/>
              <a:sym typeface="Lato"/>
            </a:endParaRPr>
          </a:p>
          <a:p>
            <a:pPr indent="0" lvl="0" marL="0" rtl="0" algn="l">
              <a:lnSpc>
                <a:spcPct val="150000"/>
              </a:lnSpc>
              <a:spcBef>
                <a:spcPts val="1100"/>
              </a:spcBef>
              <a:spcAft>
                <a:spcPts val="0"/>
              </a:spcAft>
              <a:buNone/>
            </a:pPr>
            <a:r>
              <a:t/>
            </a:r>
            <a:endParaRPr sz="1800">
              <a:solidFill>
                <a:schemeClr val="dk2"/>
              </a:solidFill>
              <a:latin typeface="Lato"/>
              <a:ea typeface="Lato"/>
              <a:cs typeface="Lato"/>
              <a:sym typeface="Lato"/>
            </a:endParaRPr>
          </a:p>
          <a:p>
            <a:pPr indent="0" lvl="0" marL="0" rtl="0" algn="l">
              <a:spcBef>
                <a:spcPts val="1100"/>
              </a:spcBef>
              <a:spcAft>
                <a:spcPts val="0"/>
              </a:spcAft>
              <a:buNone/>
            </a:pPr>
            <a:r>
              <a:t/>
            </a:r>
            <a:endParaRPr sz="1800">
              <a:solidFill>
                <a:schemeClr val="dk2"/>
              </a:solidFill>
              <a:latin typeface="Lato"/>
              <a:ea typeface="Lato"/>
              <a:cs typeface="Lato"/>
              <a:sym typeface="Lato"/>
            </a:endParaRPr>
          </a:p>
        </p:txBody>
      </p:sp>
      <p:sp>
        <p:nvSpPr>
          <p:cNvPr id="131" name="Google Shape;131;p22"/>
          <p:cNvSpPr/>
          <p:nvPr/>
        </p:nvSpPr>
        <p:spPr>
          <a:xfrm>
            <a:off x="1021408" y="2157888"/>
            <a:ext cx="290100" cy="827700"/>
          </a:xfrm>
          <a:prstGeom prst="upDownArrow">
            <a:avLst>
              <a:gd fmla="val 38142" name="adj1"/>
              <a:gd fmla="val 50207"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32" name="Google Shape;132;p22"/>
          <p:cNvPicPr preferRelativeResize="0"/>
          <p:nvPr/>
        </p:nvPicPr>
        <p:blipFill>
          <a:blip r:embed="rId3">
            <a:alphaModFix/>
          </a:blip>
          <a:stretch>
            <a:fillRect/>
          </a:stretch>
        </p:blipFill>
        <p:spPr>
          <a:xfrm>
            <a:off x="7990387" y="575950"/>
            <a:ext cx="731453" cy="63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 - Server Side</a:t>
            </a:r>
            <a:endParaRPr/>
          </a:p>
        </p:txBody>
      </p:sp>
      <p:sp>
        <p:nvSpPr>
          <p:cNvPr id="138" name="Google Shape;138;p23"/>
          <p:cNvSpPr/>
          <p:nvPr/>
        </p:nvSpPr>
        <p:spPr>
          <a:xfrm>
            <a:off x="638878" y="1651500"/>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Client</a:t>
            </a:r>
            <a:endParaRPr>
              <a:latin typeface="Lato"/>
              <a:ea typeface="Lato"/>
              <a:cs typeface="Lato"/>
              <a:sym typeface="Lato"/>
            </a:endParaRPr>
          </a:p>
        </p:txBody>
      </p:sp>
      <p:sp>
        <p:nvSpPr>
          <p:cNvPr id="139" name="Google Shape;139;p23"/>
          <p:cNvSpPr/>
          <p:nvPr/>
        </p:nvSpPr>
        <p:spPr>
          <a:xfrm>
            <a:off x="638878" y="2985575"/>
            <a:ext cx="1055100" cy="506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latin typeface="Lato"/>
                <a:ea typeface="Lato"/>
                <a:cs typeface="Lato"/>
                <a:sym typeface="Lato"/>
              </a:rPr>
              <a:t>Server</a:t>
            </a:r>
            <a:endParaRPr b="1" sz="1600">
              <a:solidFill>
                <a:schemeClr val="lt1"/>
              </a:solidFill>
              <a:latin typeface="Lato"/>
              <a:ea typeface="Lato"/>
              <a:cs typeface="Lato"/>
              <a:sym typeface="Lato"/>
            </a:endParaRPr>
          </a:p>
        </p:txBody>
      </p:sp>
      <p:sp>
        <p:nvSpPr>
          <p:cNvPr id="140" name="Google Shape;140;p23"/>
          <p:cNvSpPr txBox="1"/>
          <p:nvPr/>
        </p:nvSpPr>
        <p:spPr>
          <a:xfrm>
            <a:off x="2400225" y="1487850"/>
            <a:ext cx="5598900" cy="216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Memory Safety</a:t>
            </a:r>
            <a:br>
              <a:rPr lang="it">
                <a:solidFill>
                  <a:schemeClr val="dk2"/>
                </a:solidFill>
                <a:latin typeface="Lato"/>
                <a:ea typeface="Lato"/>
                <a:cs typeface="Lato"/>
                <a:sym typeface="Lato"/>
              </a:rPr>
            </a:br>
            <a:r>
              <a:rPr lang="it">
                <a:solidFill>
                  <a:schemeClr val="dk2"/>
                </a:solidFill>
                <a:latin typeface="Lato"/>
                <a:ea typeface="Lato"/>
                <a:cs typeface="Lato"/>
                <a:sym typeface="Lato"/>
              </a:rPr>
              <a:t>Sicurezza della memoria garantita senza Garbage Collector</a:t>
            </a:r>
            <a:endParaRPr>
              <a:solidFill>
                <a:schemeClr val="dk2"/>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Fearless Concurrency</a:t>
            </a:r>
            <a:br>
              <a:rPr lang="it">
                <a:solidFill>
                  <a:schemeClr val="dk2"/>
                </a:solidFill>
                <a:latin typeface="Lato"/>
                <a:ea typeface="Lato"/>
                <a:cs typeface="Lato"/>
                <a:sym typeface="Lato"/>
              </a:rPr>
            </a:br>
            <a:r>
              <a:rPr lang="it">
                <a:solidFill>
                  <a:schemeClr val="dk2"/>
                </a:solidFill>
                <a:latin typeface="Lato"/>
                <a:ea typeface="Lato"/>
                <a:cs typeface="Lato"/>
                <a:sym typeface="Lato"/>
              </a:rPr>
              <a:t>Gestione sicura delle connessioni simultanee</a:t>
            </a:r>
            <a:endParaRPr>
              <a:solidFill>
                <a:schemeClr val="dk2"/>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Performance</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Minimo consumo di risorse</a:t>
            </a:r>
            <a:endParaRPr sz="1800">
              <a:solidFill>
                <a:schemeClr val="dk2"/>
              </a:solidFill>
              <a:latin typeface="Lato"/>
              <a:ea typeface="Lato"/>
              <a:cs typeface="Lato"/>
              <a:sym typeface="Lato"/>
            </a:endParaRPr>
          </a:p>
          <a:p>
            <a:pPr indent="0" lvl="0" marL="0" rtl="0" algn="l">
              <a:lnSpc>
                <a:spcPct val="115000"/>
              </a:lnSpc>
              <a:spcBef>
                <a:spcPts val="1100"/>
              </a:spcBef>
              <a:spcAft>
                <a:spcPts val="0"/>
              </a:spcAft>
              <a:buClr>
                <a:schemeClr val="dk2"/>
              </a:buClr>
              <a:buSzPts val="1100"/>
              <a:buFont typeface="Arial"/>
              <a:buNone/>
            </a:pPr>
            <a:r>
              <a:t/>
            </a:r>
            <a:endParaRPr sz="1100">
              <a:solidFill>
                <a:schemeClr val="dk2"/>
              </a:solidFill>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41" name="Google Shape;141;p23"/>
          <p:cNvSpPr/>
          <p:nvPr/>
        </p:nvSpPr>
        <p:spPr>
          <a:xfrm>
            <a:off x="1021383" y="2157888"/>
            <a:ext cx="290100" cy="827700"/>
          </a:xfrm>
          <a:prstGeom prst="upDownArrow">
            <a:avLst>
              <a:gd fmla="val 38142" name="adj1"/>
              <a:gd fmla="val 50207"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42" name="Google Shape;142;p23"/>
          <p:cNvPicPr preferRelativeResize="0"/>
          <p:nvPr/>
        </p:nvPicPr>
        <p:blipFill rotWithShape="1">
          <a:blip r:embed="rId3">
            <a:alphaModFix/>
          </a:blip>
          <a:srcRect b="15699" l="26101" r="25841" t="13774"/>
          <a:stretch/>
        </p:blipFill>
        <p:spPr>
          <a:xfrm>
            <a:off x="7999126" y="575950"/>
            <a:ext cx="722724" cy="706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 - Server Side</a:t>
            </a:r>
            <a:endParaRPr/>
          </a:p>
        </p:txBody>
      </p:sp>
      <p:sp>
        <p:nvSpPr>
          <p:cNvPr id="148" name="Google Shape;148;p24"/>
          <p:cNvSpPr/>
          <p:nvPr/>
        </p:nvSpPr>
        <p:spPr>
          <a:xfrm>
            <a:off x="638903" y="1651500"/>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Client</a:t>
            </a:r>
            <a:endParaRPr>
              <a:latin typeface="Lato"/>
              <a:ea typeface="Lato"/>
              <a:cs typeface="Lato"/>
              <a:sym typeface="Lato"/>
            </a:endParaRPr>
          </a:p>
        </p:txBody>
      </p:sp>
      <p:sp>
        <p:nvSpPr>
          <p:cNvPr id="149" name="Google Shape;149;p24"/>
          <p:cNvSpPr/>
          <p:nvPr/>
        </p:nvSpPr>
        <p:spPr>
          <a:xfrm>
            <a:off x="638903" y="2985575"/>
            <a:ext cx="1055100" cy="506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latin typeface="Lato"/>
                <a:ea typeface="Lato"/>
                <a:cs typeface="Lato"/>
                <a:sym typeface="Lato"/>
              </a:rPr>
              <a:t>Server</a:t>
            </a:r>
            <a:endParaRPr b="1" sz="1600">
              <a:solidFill>
                <a:schemeClr val="lt1"/>
              </a:solidFill>
              <a:latin typeface="Lato"/>
              <a:ea typeface="Lato"/>
              <a:cs typeface="Lato"/>
              <a:sym typeface="Lato"/>
            </a:endParaRPr>
          </a:p>
        </p:txBody>
      </p:sp>
      <p:sp>
        <p:nvSpPr>
          <p:cNvPr id="150" name="Google Shape;150;p24"/>
          <p:cNvSpPr txBox="1"/>
          <p:nvPr/>
        </p:nvSpPr>
        <p:spPr>
          <a:xfrm>
            <a:off x="2400250" y="1501550"/>
            <a:ext cx="5598900" cy="284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it" sz="1800">
                <a:solidFill>
                  <a:schemeClr val="dk1"/>
                </a:solidFill>
                <a:latin typeface="Lato"/>
                <a:ea typeface="Lato"/>
                <a:cs typeface="Lato"/>
                <a:sym typeface="Lato"/>
              </a:rPr>
              <a:t>Tokio</a:t>
            </a:r>
            <a:br>
              <a:rPr lang="it" sz="1600">
                <a:solidFill>
                  <a:schemeClr val="dk2"/>
                </a:solidFill>
                <a:latin typeface="Lato"/>
                <a:ea typeface="Lato"/>
                <a:cs typeface="Lato"/>
                <a:sym typeface="Lato"/>
              </a:rPr>
            </a:br>
            <a:r>
              <a:rPr lang="it">
                <a:solidFill>
                  <a:schemeClr val="dk2"/>
                </a:solidFill>
                <a:latin typeface="Lato"/>
                <a:ea typeface="Lato"/>
                <a:cs typeface="Lato"/>
                <a:sym typeface="Lato"/>
              </a:rPr>
              <a:t>Runtime per operazioni asincrone e I/O non bloccante</a:t>
            </a:r>
            <a:endParaRPr sz="1600">
              <a:solidFill>
                <a:schemeClr val="dk2"/>
              </a:solidFill>
              <a:latin typeface="Lato"/>
              <a:ea typeface="Lato"/>
              <a:cs typeface="Lato"/>
              <a:sym typeface="Lato"/>
            </a:endParaRPr>
          </a:p>
          <a:p>
            <a:pPr indent="0" lvl="0" marL="0" rtl="0" algn="l">
              <a:lnSpc>
                <a:spcPct val="115000"/>
              </a:lnSpc>
              <a:spcBef>
                <a:spcPts val="1200"/>
              </a:spcBef>
              <a:spcAft>
                <a:spcPts val="0"/>
              </a:spcAft>
              <a:buNone/>
            </a:pPr>
            <a:r>
              <a:rPr b="1" lang="it" sz="1800">
                <a:solidFill>
                  <a:schemeClr val="dk1"/>
                </a:solidFill>
                <a:latin typeface="Lato"/>
                <a:ea typeface="Lato"/>
                <a:cs typeface="Lato"/>
                <a:sym typeface="Lato"/>
              </a:rPr>
              <a:t>Axum</a:t>
            </a:r>
            <a:br>
              <a:rPr lang="it" sz="1600">
                <a:solidFill>
                  <a:schemeClr val="dk2"/>
                </a:solidFill>
                <a:latin typeface="Lato"/>
                <a:ea typeface="Lato"/>
                <a:cs typeface="Lato"/>
                <a:sym typeface="Lato"/>
              </a:rPr>
            </a:br>
            <a:r>
              <a:rPr lang="it">
                <a:solidFill>
                  <a:schemeClr val="dk2"/>
                </a:solidFill>
                <a:latin typeface="Lato"/>
                <a:ea typeface="Lato"/>
                <a:cs typeface="Lato"/>
                <a:sym typeface="Lato"/>
              </a:rPr>
              <a:t>Framework web per gestire API REST e WebSocket</a:t>
            </a:r>
            <a:endParaRPr>
              <a:solidFill>
                <a:schemeClr val="dk2"/>
              </a:solidFill>
              <a:latin typeface="Lato"/>
              <a:ea typeface="Lato"/>
              <a:cs typeface="Lato"/>
              <a:sym typeface="Lato"/>
            </a:endParaRPr>
          </a:p>
          <a:p>
            <a:pPr indent="0" lvl="0" marL="0" rtl="0" algn="l">
              <a:lnSpc>
                <a:spcPct val="115000"/>
              </a:lnSpc>
              <a:spcBef>
                <a:spcPts val="1200"/>
              </a:spcBef>
              <a:spcAft>
                <a:spcPts val="0"/>
              </a:spcAft>
              <a:buNone/>
            </a:pPr>
            <a:r>
              <a:rPr b="1" lang="it" sz="1800">
                <a:solidFill>
                  <a:schemeClr val="dk1"/>
                </a:solidFill>
                <a:latin typeface="Lato"/>
                <a:ea typeface="Lato"/>
                <a:cs typeface="Lato"/>
                <a:sym typeface="Lato"/>
              </a:rPr>
              <a:t>SQLite</a:t>
            </a:r>
            <a:br>
              <a:rPr lang="it" sz="1600">
                <a:solidFill>
                  <a:schemeClr val="dk2"/>
                </a:solidFill>
                <a:latin typeface="Lato"/>
                <a:ea typeface="Lato"/>
                <a:cs typeface="Lato"/>
                <a:sym typeface="Lato"/>
              </a:rPr>
            </a:br>
            <a:r>
              <a:rPr lang="it">
                <a:solidFill>
                  <a:schemeClr val="dk2"/>
                </a:solidFill>
                <a:latin typeface="Lato"/>
                <a:ea typeface="Lato"/>
                <a:cs typeface="Lato"/>
                <a:sym typeface="Lato"/>
              </a:rPr>
              <a:t>Database relazionale leggero</a:t>
            </a:r>
            <a:endParaRPr>
              <a:solidFill>
                <a:schemeClr val="dk2"/>
              </a:solidFill>
              <a:latin typeface="Lato"/>
              <a:ea typeface="Lato"/>
              <a:cs typeface="Lato"/>
              <a:sym typeface="Lato"/>
            </a:endParaRPr>
          </a:p>
          <a:p>
            <a:pPr indent="0" lvl="0" marL="0" rtl="0" algn="l">
              <a:lnSpc>
                <a:spcPct val="115000"/>
              </a:lnSpc>
              <a:spcBef>
                <a:spcPts val="1200"/>
              </a:spcBef>
              <a:spcAft>
                <a:spcPts val="0"/>
              </a:spcAft>
              <a:buClr>
                <a:schemeClr val="dk2"/>
              </a:buClr>
              <a:buSzPts val="1100"/>
              <a:buFont typeface="Arial"/>
              <a:buNone/>
            </a:pPr>
            <a:r>
              <a:rPr b="1" lang="it" sz="1800">
                <a:solidFill>
                  <a:schemeClr val="dk1"/>
                </a:solidFill>
                <a:latin typeface="Lato"/>
                <a:ea typeface="Lato"/>
                <a:cs typeface="Lato"/>
                <a:sym typeface="Lato"/>
              </a:rPr>
              <a:t>SysInfo</a:t>
            </a:r>
            <a:br>
              <a:rPr lang="it" sz="1600">
                <a:solidFill>
                  <a:schemeClr val="dk2"/>
                </a:solidFill>
                <a:latin typeface="Lato"/>
                <a:ea typeface="Lato"/>
                <a:cs typeface="Lato"/>
                <a:sym typeface="Lato"/>
              </a:rPr>
            </a:br>
            <a:r>
              <a:rPr lang="it">
                <a:solidFill>
                  <a:schemeClr val="dk2"/>
                </a:solidFill>
                <a:latin typeface="Lato"/>
                <a:ea typeface="Lato"/>
                <a:cs typeface="Lato"/>
                <a:sym typeface="Lato"/>
              </a:rPr>
              <a:t>Monitoraggio delle presentazioni della CPU</a:t>
            </a:r>
            <a:endParaRPr>
              <a:solidFill>
                <a:schemeClr val="dk2"/>
              </a:solidFill>
              <a:latin typeface="Lato"/>
              <a:ea typeface="Lato"/>
              <a:cs typeface="Lato"/>
              <a:sym typeface="Lato"/>
            </a:endParaRPr>
          </a:p>
          <a:p>
            <a:pPr indent="0" lvl="0" marL="0" rtl="0" algn="l">
              <a:lnSpc>
                <a:spcPct val="115000"/>
              </a:lnSpc>
              <a:spcBef>
                <a:spcPts val="1200"/>
              </a:spcBef>
              <a:spcAft>
                <a:spcPts val="0"/>
              </a:spcAft>
              <a:buNone/>
            </a:pPr>
            <a:r>
              <a:t/>
            </a:r>
            <a:endParaRPr>
              <a:solidFill>
                <a:schemeClr val="dk2"/>
              </a:solidFill>
              <a:latin typeface="Lato"/>
              <a:ea typeface="Lato"/>
              <a:cs typeface="Lato"/>
              <a:sym typeface="Lato"/>
            </a:endParaRPr>
          </a:p>
          <a:p>
            <a:pPr indent="0" lvl="0" marL="0" rtl="0" algn="l">
              <a:lnSpc>
                <a:spcPct val="115000"/>
              </a:lnSpc>
              <a:spcBef>
                <a:spcPts val="1200"/>
              </a:spcBef>
              <a:spcAft>
                <a:spcPts val="0"/>
              </a:spcAft>
              <a:buNone/>
            </a:pPr>
            <a:r>
              <a:t/>
            </a:r>
            <a:endParaRPr>
              <a:solidFill>
                <a:schemeClr val="dk2"/>
              </a:solidFill>
              <a:latin typeface="Lato"/>
              <a:ea typeface="Lato"/>
              <a:cs typeface="Lato"/>
              <a:sym typeface="Lato"/>
            </a:endParaRPr>
          </a:p>
          <a:p>
            <a:pPr indent="0" lvl="0" marL="0" rtl="0" algn="l">
              <a:lnSpc>
                <a:spcPct val="115000"/>
              </a:lnSpc>
              <a:spcBef>
                <a:spcPts val="1200"/>
              </a:spcBef>
              <a:spcAft>
                <a:spcPts val="1200"/>
              </a:spcAft>
              <a:buNone/>
            </a:pPr>
            <a:r>
              <a:t/>
            </a:r>
            <a:endParaRPr>
              <a:solidFill>
                <a:schemeClr val="dk2"/>
              </a:solidFill>
              <a:latin typeface="Lato"/>
              <a:ea typeface="Lato"/>
              <a:cs typeface="Lato"/>
              <a:sym typeface="Lato"/>
            </a:endParaRPr>
          </a:p>
        </p:txBody>
      </p:sp>
      <p:sp>
        <p:nvSpPr>
          <p:cNvPr id="151" name="Google Shape;151;p24"/>
          <p:cNvSpPr/>
          <p:nvPr/>
        </p:nvSpPr>
        <p:spPr>
          <a:xfrm>
            <a:off x="1021408" y="2157888"/>
            <a:ext cx="290100" cy="827700"/>
          </a:xfrm>
          <a:prstGeom prst="upDownArrow">
            <a:avLst>
              <a:gd fmla="val 38142" name="adj1"/>
              <a:gd fmla="val 50207"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52" name="Google Shape;152;p24"/>
          <p:cNvPicPr preferRelativeResize="0"/>
          <p:nvPr/>
        </p:nvPicPr>
        <p:blipFill rotWithShape="1">
          <a:blip r:embed="rId3">
            <a:alphaModFix/>
          </a:blip>
          <a:srcRect b="15699" l="26101" r="25841" t="13774"/>
          <a:stretch/>
        </p:blipFill>
        <p:spPr>
          <a:xfrm>
            <a:off x="7999126" y="575950"/>
            <a:ext cx="722724" cy="7068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2400250" y="422589"/>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 - Stato Globale nel Server</a:t>
            </a:r>
            <a:endParaRPr b="0" sz="1556">
              <a:latin typeface="Roboto Mono ExtraLight"/>
              <a:ea typeface="Roboto Mono ExtraLight"/>
              <a:cs typeface="Roboto Mono ExtraLight"/>
              <a:sym typeface="Roboto Mono ExtraLight"/>
            </a:endParaRPr>
          </a:p>
        </p:txBody>
      </p:sp>
      <p:sp>
        <p:nvSpPr>
          <p:cNvPr id="158" name="Google Shape;158;p25"/>
          <p:cNvSpPr txBox="1"/>
          <p:nvPr/>
        </p:nvSpPr>
        <p:spPr>
          <a:xfrm>
            <a:off x="2400250" y="1335484"/>
            <a:ext cx="6321600" cy="226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100"/>
              </a:spcBef>
              <a:spcAft>
                <a:spcPts val="0"/>
              </a:spcAft>
              <a:buNone/>
            </a:pPr>
            <a:r>
              <a:rPr b="1" lang="it" sz="1800">
                <a:solidFill>
                  <a:schemeClr val="dk1"/>
                </a:solidFill>
                <a:latin typeface="Lato"/>
                <a:ea typeface="Lato"/>
                <a:cs typeface="Lato"/>
                <a:sym typeface="Lato"/>
              </a:rPr>
              <a:t>Routing con Axum</a:t>
            </a:r>
            <a:br>
              <a:rPr b="1" lang="it" sz="1800">
                <a:solidFill>
                  <a:schemeClr val="dk1"/>
                </a:solidFill>
                <a:latin typeface="Lato"/>
                <a:ea typeface="Lato"/>
                <a:cs typeface="Lato"/>
                <a:sym typeface="Lato"/>
              </a:rPr>
            </a:br>
            <a:r>
              <a:rPr lang="it" sz="1300">
                <a:solidFill>
                  <a:schemeClr val="dk2"/>
                </a:solidFill>
                <a:latin typeface="Roboto Mono Light"/>
                <a:ea typeface="Roboto Mono Light"/>
                <a:cs typeface="Roboto Mono Light"/>
                <a:sym typeface="Roboto Mono Light"/>
              </a:rPr>
              <a:t>AppState</a:t>
            </a:r>
            <a:r>
              <a:rPr lang="it" sz="1300">
                <a:solidFill>
                  <a:schemeClr val="dk2"/>
                </a:solidFill>
                <a:latin typeface="Lato"/>
                <a:ea typeface="Lato"/>
                <a:cs typeface="Lato"/>
                <a:sym typeface="Lato"/>
              </a:rPr>
              <a:t> viene estratto e clonato per ogni richiesta HTTP concorrente</a:t>
            </a:r>
            <a:endParaRPr b="1" sz="1700">
              <a:solidFill>
                <a:schemeClr val="dk1"/>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Gestione della memoria</a:t>
            </a:r>
            <a:br>
              <a:rPr b="1" lang="it" sz="1800">
                <a:solidFill>
                  <a:schemeClr val="dk1"/>
                </a:solidFill>
                <a:latin typeface="Lato"/>
                <a:ea typeface="Lato"/>
                <a:cs typeface="Lato"/>
                <a:sym typeface="Lato"/>
              </a:rPr>
            </a:br>
            <a:r>
              <a:rPr lang="it" sz="1300">
                <a:solidFill>
                  <a:schemeClr val="dk2"/>
                </a:solidFill>
                <a:latin typeface="Lato"/>
                <a:ea typeface="Lato"/>
                <a:cs typeface="Lato"/>
                <a:sym typeface="Lato"/>
              </a:rPr>
              <a:t>Campi pesanti o mutabili non vengono copiati, ma incapsulati in </a:t>
            </a:r>
            <a:r>
              <a:rPr b="1" lang="it" sz="1300">
                <a:solidFill>
                  <a:schemeClr val="dk2"/>
                </a:solidFill>
                <a:latin typeface="Lato"/>
                <a:ea typeface="Lato"/>
                <a:cs typeface="Lato"/>
                <a:sym typeface="Lato"/>
              </a:rPr>
              <a:t>Smart Pointers</a:t>
            </a:r>
            <a:endParaRPr b="1" sz="1700">
              <a:solidFill>
                <a:schemeClr val="dk2"/>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Thread Safety</a:t>
            </a:r>
            <a:br>
              <a:rPr b="1" lang="it" sz="1800">
                <a:solidFill>
                  <a:schemeClr val="dk1"/>
                </a:solidFill>
                <a:latin typeface="Lato"/>
                <a:ea typeface="Lato"/>
                <a:cs typeface="Lato"/>
                <a:sym typeface="Lato"/>
              </a:rPr>
            </a:br>
            <a:r>
              <a:rPr lang="it" sz="1300">
                <a:solidFill>
                  <a:schemeClr val="dk2"/>
                </a:solidFill>
                <a:latin typeface="Lato"/>
                <a:ea typeface="Lato"/>
                <a:cs typeface="Lato"/>
                <a:sym typeface="Lato"/>
              </a:rPr>
              <a:t>Utilizzo di Arc per garantire che i riferimenti sopravvivano nei task asincroni gestiti dal runtime di Tokio</a:t>
            </a:r>
            <a:endParaRPr sz="1700">
              <a:solidFill>
                <a:schemeClr val="dk2"/>
              </a:solidFill>
              <a:latin typeface="Lato"/>
              <a:ea typeface="Lato"/>
              <a:cs typeface="Lato"/>
              <a:sym typeface="Lato"/>
            </a:endParaRPr>
          </a:p>
          <a:p>
            <a:pPr indent="0" lvl="0" marL="0" rtl="0" algn="l">
              <a:spcBef>
                <a:spcPts val="1100"/>
              </a:spcBef>
              <a:spcAft>
                <a:spcPts val="0"/>
              </a:spcAft>
              <a:buNone/>
            </a:pPr>
            <a:r>
              <a:t/>
            </a:r>
            <a:endParaRPr sz="1800">
              <a:solidFill>
                <a:schemeClr val="dk2"/>
              </a:solidFill>
              <a:latin typeface="Lato"/>
              <a:ea typeface="Lato"/>
              <a:cs typeface="Lato"/>
              <a:sym typeface="Lato"/>
            </a:endParaRPr>
          </a:p>
        </p:txBody>
      </p:sp>
      <p:sp>
        <p:nvSpPr>
          <p:cNvPr id="159" name="Google Shape;159;p25"/>
          <p:cNvSpPr txBox="1"/>
          <p:nvPr/>
        </p:nvSpPr>
        <p:spPr>
          <a:xfrm>
            <a:off x="2400250" y="3518949"/>
            <a:ext cx="4749000" cy="14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000">
                <a:solidFill>
                  <a:srgbClr val="E06666"/>
                </a:solidFill>
                <a:latin typeface="Roboto Mono"/>
                <a:ea typeface="Roboto Mono"/>
                <a:cs typeface="Roboto Mono"/>
                <a:sym typeface="Roboto Mono"/>
              </a:rPr>
              <a:t>pub struct</a:t>
            </a:r>
            <a:r>
              <a:rPr lang="it" sz="1000">
                <a:solidFill>
                  <a:schemeClr val="dk2"/>
                </a:solidFill>
                <a:latin typeface="Roboto Mono"/>
                <a:ea typeface="Roboto Mono"/>
                <a:cs typeface="Roboto Mono"/>
                <a:sym typeface="Roboto Mono"/>
              </a:rPr>
              <a:t> </a:t>
            </a:r>
            <a:r>
              <a:rPr lang="it" sz="1000">
                <a:solidFill>
                  <a:srgbClr val="6AA84F"/>
                </a:solidFill>
                <a:latin typeface="Roboto Mono"/>
                <a:ea typeface="Roboto Mono"/>
                <a:cs typeface="Roboto Mono"/>
                <a:sym typeface="Roboto Mono"/>
              </a:rPr>
              <a:t>AppState</a:t>
            </a:r>
            <a:r>
              <a:rPr lang="it" sz="1000">
                <a:solidFill>
                  <a:schemeClr val="dk2"/>
                </a:solidFill>
                <a:latin typeface="Roboto Mono"/>
                <a:ea typeface="Roboto Mono"/>
                <a:cs typeface="Roboto Mono"/>
                <a:sym typeface="Roboto Mono"/>
              </a:rPr>
              <a:t> {</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it" sz="1000">
                <a:solidFill>
                  <a:schemeClr val="dk2"/>
                </a:solidFill>
                <a:latin typeface="Roboto Mono"/>
                <a:ea typeface="Roboto Mono"/>
                <a:cs typeface="Roboto Mono"/>
                <a:sym typeface="Roboto Mono"/>
              </a:rPr>
              <a:t>  </a:t>
            </a:r>
            <a:r>
              <a:rPr lang="it" sz="1000">
                <a:solidFill>
                  <a:srgbClr val="E06666"/>
                </a:solidFill>
                <a:latin typeface="Roboto Mono"/>
                <a:ea typeface="Roboto Mono"/>
                <a:cs typeface="Roboto Mono"/>
                <a:sym typeface="Roboto Mono"/>
              </a:rPr>
              <a:t>pub</a:t>
            </a:r>
            <a:r>
              <a:rPr lang="it" sz="1000">
                <a:solidFill>
                  <a:schemeClr val="dk2"/>
                </a:solidFill>
                <a:latin typeface="Roboto Mono"/>
                <a:ea typeface="Roboto Mono"/>
                <a:cs typeface="Roboto Mono"/>
                <a:sym typeface="Roboto Mono"/>
              </a:rPr>
              <a:t> pool: </a:t>
            </a:r>
            <a:r>
              <a:rPr lang="it" sz="1000">
                <a:solidFill>
                  <a:srgbClr val="6AA84F"/>
                </a:solidFill>
                <a:latin typeface="Roboto Mono"/>
                <a:ea typeface="Roboto Mono"/>
                <a:cs typeface="Roboto Mono"/>
                <a:sym typeface="Roboto Mono"/>
              </a:rPr>
              <a:t>SqlitePool</a:t>
            </a:r>
            <a:r>
              <a:rPr lang="it" sz="1000">
                <a:solidFill>
                  <a:schemeClr val="dk2"/>
                </a:solidFill>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it" sz="1000">
                <a:solidFill>
                  <a:schemeClr val="dk2"/>
                </a:solidFill>
                <a:latin typeface="Roboto Mono"/>
                <a:ea typeface="Roboto Mono"/>
                <a:cs typeface="Roboto Mono"/>
                <a:sym typeface="Roboto Mono"/>
              </a:rPr>
              <a:t>  </a:t>
            </a:r>
            <a:r>
              <a:rPr lang="it" sz="1000">
                <a:solidFill>
                  <a:srgbClr val="E06666"/>
                </a:solidFill>
                <a:latin typeface="Roboto Mono"/>
                <a:ea typeface="Roboto Mono"/>
                <a:cs typeface="Roboto Mono"/>
                <a:sym typeface="Roboto Mono"/>
              </a:rPr>
              <a:t>pub</a:t>
            </a:r>
            <a:r>
              <a:rPr lang="it" sz="1000">
                <a:solidFill>
                  <a:schemeClr val="dk2"/>
                </a:solidFill>
                <a:latin typeface="Roboto Mono"/>
                <a:ea typeface="Roboto Mono"/>
                <a:cs typeface="Roboto Mono"/>
                <a:sym typeface="Roboto Mono"/>
              </a:rPr>
              <a:t> cookie_secret: </a:t>
            </a:r>
            <a:r>
              <a:rPr lang="it" sz="1000">
                <a:solidFill>
                  <a:srgbClr val="6AA84F"/>
                </a:solidFill>
                <a:latin typeface="Roboto Mono"/>
                <a:ea typeface="Roboto Mono"/>
                <a:cs typeface="Roboto Mono"/>
                <a:sym typeface="Roboto Mono"/>
              </a:rPr>
              <a:t>Vec</a:t>
            </a:r>
            <a:r>
              <a:rPr lang="it" sz="1000">
                <a:solidFill>
                  <a:schemeClr val="dk2"/>
                </a:solidFill>
                <a:latin typeface="Roboto Mono"/>
                <a:ea typeface="Roboto Mono"/>
                <a:cs typeface="Roboto Mono"/>
                <a:sym typeface="Roboto Mono"/>
              </a:rPr>
              <a:t>&lt;</a:t>
            </a:r>
            <a:r>
              <a:rPr lang="it" sz="1000">
                <a:solidFill>
                  <a:srgbClr val="6AA84F"/>
                </a:solidFill>
                <a:latin typeface="Roboto Mono"/>
                <a:ea typeface="Roboto Mono"/>
                <a:cs typeface="Roboto Mono"/>
                <a:sym typeface="Roboto Mono"/>
              </a:rPr>
              <a:t>u8</a:t>
            </a:r>
            <a:r>
              <a:rPr lang="it" sz="1000">
                <a:solidFill>
                  <a:schemeClr val="dk2"/>
                </a:solidFill>
                <a:latin typeface="Roboto Mono"/>
                <a:ea typeface="Roboto Mono"/>
                <a:cs typeface="Roboto Mono"/>
                <a:sym typeface="Roboto Mono"/>
              </a:rPr>
              <a:t>&gt;,</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it" sz="1000">
                <a:solidFill>
                  <a:schemeClr val="dk2"/>
                </a:solidFill>
                <a:latin typeface="Roboto Mono"/>
                <a:ea typeface="Roboto Mono"/>
                <a:cs typeface="Roboto Mono"/>
                <a:sym typeface="Roboto Mono"/>
              </a:rPr>
              <a:t>  </a:t>
            </a:r>
            <a:r>
              <a:rPr lang="it" sz="1000">
                <a:solidFill>
                  <a:srgbClr val="E06666"/>
                </a:solidFill>
                <a:latin typeface="Roboto Mono"/>
                <a:ea typeface="Roboto Mono"/>
                <a:cs typeface="Roboto Mono"/>
                <a:sym typeface="Roboto Mono"/>
              </a:rPr>
              <a:t>pub</a:t>
            </a:r>
            <a:r>
              <a:rPr lang="it" sz="1000">
                <a:solidFill>
                  <a:schemeClr val="dk2"/>
                </a:solidFill>
                <a:latin typeface="Roboto Mono"/>
                <a:ea typeface="Roboto Mono"/>
                <a:cs typeface="Roboto Mono"/>
                <a:sym typeface="Roboto Mono"/>
              </a:rPr>
              <a:t> session_ttl_secs: </a:t>
            </a:r>
            <a:r>
              <a:rPr lang="it" sz="1000">
                <a:solidFill>
                  <a:srgbClr val="6AA84F"/>
                </a:solidFill>
                <a:latin typeface="Roboto Mono"/>
                <a:ea typeface="Roboto Mono"/>
                <a:cs typeface="Roboto Mono"/>
                <a:sym typeface="Roboto Mono"/>
              </a:rPr>
              <a:t>u64</a:t>
            </a:r>
            <a:r>
              <a:rPr lang="it" sz="1000">
                <a:solidFill>
                  <a:schemeClr val="dk2"/>
                </a:solidFill>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it" sz="1000">
                <a:solidFill>
                  <a:schemeClr val="dk2"/>
                </a:solidFill>
                <a:latin typeface="Roboto Mono"/>
                <a:ea typeface="Roboto Mono"/>
                <a:cs typeface="Roboto Mono"/>
                <a:sym typeface="Roboto Mono"/>
              </a:rPr>
              <a:t>  </a:t>
            </a:r>
            <a:r>
              <a:rPr lang="it" sz="1000">
                <a:solidFill>
                  <a:srgbClr val="E06666"/>
                </a:solidFill>
                <a:latin typeface="Roboto Mono"/>
                <a:ea typeface="Roboto Mono"/>
                <a:cs typeface="Roboto Mono"/>
                <a:sym typeface="Roboto Mono"/>
              </a:rPr>
              <a:t>pub</a:t>
            </a:r>
            <a:r>
              <a:rPr lang="it" sz="1000">
                <a:solidFill>
                  <a:schemeClr val="dk2"/>
                </a:solidFill>
                <a:latin typeface="Roboto Mono"/>
                <a:ea typeface="Roboto Mono"/>
                <a:cs typeface="Roboto Mono"/>
                <a:sym typeface="Roboto Mono"/>
              </a:rPr>
              <a:t> notification_peers: </a:t>
            </a:r>
            <a:r>
              <a:rPr lang="it" sz="1000">
                <a:solidFill>
                  <a:srgbClr val="6AA84F"/>
                </a:solidFill>
                <a:latin typeface="Roboto Mono"/>
                <a:ea typeface="Roboto Mono"/>
                <a:cs typeface="Roboto Mono"/>
                <a:sym typeface="Roboto Mono"/>
              </a:rPr>
              <a:t>Arc</a:t>
            </a:r>
            <a:r>
              <a:rPr lang="it" sz="1000">
                <a:solidFill>
                  <a:schemeClr val="dk2"/>
                </a:solidFill>
                <a:latin typeface="Roboto Mono"/>
                <a:ea typeface="Roboto Mono"/>
                <a:cs typeface="Roboto Mono"/>
                <a:sym typeface="Roboto Mono"/>
              </a:rPr>
              <a:t>&lt;</a:t>
            </a:r>
            <a:r>
              <a:rPr lang="it" sz="1000">
                <a:solidFill>
                  <a:srgbClr val="6AA84F"/>
                </a:solidFill>
                <a:latin typeface="Roboto Mono"/>
                <a:ea typeface="Roboto Mono"/>
                <a:cs typeface="Roboto Mono"/>
                <a:sym typeface="Roboto Mono"/>
              </a:rPr>
              <a:t>RwLock</a:t>
            </a:r>
            <a:r>
              <a:rPr lang="it" sz="1000">
                <a:solidFill>
                  <a:schemeClr val="dk2"/>
                </a:solidFill>
                <a:latin typeface="Roboto Mono"/>
                <a:ea typeface="Roboto Mono"/>
                <a:cs typeface="Roboto Mono"/>
                <a:sym typeface="Roboto Mono"/>
              </a:rPr>
              <a:t>&lt;</a:t>
            </a:r>
            <a:r>
              <a:rPr lang="it" sz="1000">
                <a:solidFill>
                  <a:srgbClr val="6AA84F"/>
                </a:solidFill>
                <a:latin typeface="Roboto Mono"/>
                <a:ea typeface="Roboto Mono"/>
                <a:cs typeface="Roboto Mono"/>
                <a:sym typeface="Roboto Mono"/>
              </a:rPr>
              <a:t>HashMap</a:t>
            </a:r>
            <a:r>
              <a:rPr lang="it" sz="1000">
                <a:solidFill>
                  <a:schemeClr val="dk2"/>
                </a:solidFill>
                <a:latin typeface="Roboto Mono"/>
                <a:ea typeface="Roboto Mono"/>
                <a:cs typeface="Roboto Mono"/>
                <a:sym typeface="Roboto Mono"/>
              </a:rPr>
              <a:t>&lt;</a:t>
            </a:r>
            <a:r>
              <a:rPr lang="it" sz="1000">
                <a:solidFill>
                  <a:srgbClr val="6AA84F"/>
                </a:solidFill>
                <a:latin typeface="Roboto Mono"/>
                <a:ea typeface="Roboto Mono"/>
                <a:cs typeface="Roboto Mono"/>
                <a:sym typeface="Roboto Mono"/>
              </a:rPr>
              <a:t>...</a:t>
            </a:r>
            <a:r>
              <a:rPr lang="it" sz="1000">
                <a:solidFill>
                  <a:schemeClr val="dk2"/>
                </a:solidFill>
                <a:latin typeface="Roboto Mono"/>
                <a:ea typeface="Roboto Mono"/>
                <a:cs typeface="Roboto Mono"/>
                <a:sym typeface="Roboto Mono"/>
              </a:rPr>
              <a:t>&gt;&gt;&gt;,</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it" sz="1000">
                <a:solidFill>
                  <a:schemeClr val="dk2"/>
                </a:solidFill>
                <a:latin typeface="Roboto Mono"/>
                <a:ea typeface="Roboto Mono"/>
                <a:cs typeface="Roboto Mono"/>
                <a:sym typeface="Roboto Mono"/>
              </a:rPr>
              <a:t>  </a:t>
            </a:r>
            <a:r>
              <a:rPr lang="it" sz="1000">
                <a:solidFill>
                  <a:srgbClr val="E06666"/>
                </a:solidFill>
                <a:latin typeface="Roboto Mono"/>
                <a:ea typeface="Roboto Mono"/>
                <a:cs typeface="Roboto Mono"/>
                <a:sym typeface="Roboto Mono"/>
              </a:rPr>
              <a:t>pub</a:t>
            </a:r>
            <a:r>
              <a:rPr lang="it" sz="1000">
                <a:solidFill>
                  <a:schemeClr val="dk2"/>
                </a:solidFill>
                <a:latin typeface="Roboto Mono"/>
                <a:ea typeface="Roboto Mono"/>
                <a:cs typeface="Roboto Mono"/>
                <a:sym typeface="Roboto Mono"/>
              </a:rPr>
              <a:t> next_conn_id: </a:t>
            </a:r>
            <a:r>
              <a:rPr lang="it" sz="1000">
                <a:solidFill>
                  <a:srgbClr val="6AA84F"/>
                </a:solidFill>
                <a:latin typeface="Roboto Mono"/>
                <a:ea typeface="Roboto Mono"/>
                <a:cs typeface="Roboto Mono"/>
                <a:sym typeface="Roboto Mono"/>
              </a:rPr>
              <a:t>Arc</a:t>
            </a:r>
            <a:r>
              <a:rPr lang="it" sz="1000">
                <a:solidFill>
                  <a:schemeClr val="dk2"/>
                </a:solidFill>
                <a:latin typeface="Roboto Mono"/>
                <a:ea typeface="Roboto Mono"/>
                <a:cs typeface="Roboto Mono"/>
                <a:sym typeface="Roboto Mono"/>
              </a:rPr>
              <a:t>&lt;</a:t>
            </a:r>
            <a:r>
              <a:rPr lang="it" sz="1000">
                <a:solidFill>
                  <a:srgbClr val="6AA84F"/>
                </a:solidFill>
                <a:latin typeface="Roboto Mono"/>
                <a:ea typeface="Roboto Mono"/>
                <a:cs typeface="Roboto Mono"/>
                <a:sym typeface="Roboto Mono"/>
              </a:rPr>
              <a:t>AtomicU64</a:t>
            </a:r>
            <a:r>
              <a:rPr lang="it" sz="1000">
                <a:solidFill>
                  <a:schemeClr val="dk2"/>
                </a:solidFill>
                <a:latin typeface="Roboto Mono"/>
                <a:ea typeface="Roboto Mono"/>
                <a:cs typeface="Roboto Mono"/>
                <a:sym typeface="Roboto Mono"/>
              </a:rPr>
              <a:t>&gt;,</a:t>
            </a:r>
            <a:endParaRPr sz="1000">
              <a:solidFill>
                <a:srgbClr val="6AA84F"/>
              </a:solidFill>
              <a:latin typeface="Roboto Mono"/>
              <a:ea typeface="Roboto Mono"/>
              <a:cs typeface="Roboto Mono"/>
              <a:sym typeface="Roboto Mono"/>
            </a:endParaRPr>
          </a:p>
          <a:p>
            <a:pPr indent="0" lvl="0" marL="0" rtl="0" algn="l">
              <a:spcBef>
                <a:spcPts val="0"/>
              </a:spcBef>
              <a:spcAft>
                <a:spcPts val="0"/>
              </a:spcAft>
              <a:buNone/>
            </a:pPr>
            <a:r>
              <a:rPr lang="it" sz="1000">
                <a:solidFill>
                  <a:schemeClr val="dk2"/>
                </a:solidFill>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p:txBody>
      </p:sp>
      <p:sp>
        <p:nvSpPr>
          <p:cNvPr id="160" name="Google Shape;160;p25"/>
          <p:cNvSpPr/>
          <p:nvPr/>
        </p:nvSpPr>
        <p:spPr>
          <a:xfrm>
            <a:off x="638903" y="1651500"/>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Client</a:t>
            </a:r>
            <a:endParaRPr>
              <a:latin typeface="Lato"/>
              <a:ea typeface="Lato"/>
              <a:cs typeface="Lato"/>
              <a:sym typeface="Lato"/>
            </a:endParaRPr>
          </a:p>
        </p:txBody>
      </p:sp>
      <p:sp>
        <p:nvSpPr>
          <p:cNvPr id="161" name="Google Shape;161;p25"/>
          <p:cNvSpPr/>
          <p:nvPr/>
        </p:nvSpPr>
        <p:spPr>
          <a:xfrm>
            <a:off x="638903" y="2985575"/>
            <a:ext cx="1055100" cy="506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latin typeface="Lato"/>
                <a:ea typeface="Lato"/>
                <a:cs typeface="Lato"/>
                <a:sym typeface="Lato"/>
              </a:rPr>
              <a:t>Server</a:t>
            </a:r>
            <a:endParaRPr b="1" sz="1600">
              <a:solidFill>
                <a:schemeClr val="lt1"/>
              </a:solidFill>
              <a:latin typeface="Lato"/>
              <a:ea typeface="Lato"/>
              <a:cs typeface="Lato"/>
              <a:sym typeface="Lato"/>
            </a:endParaRPr>
          </a:p>
        </p:txBody>
      </p:sp>
      <p:sp>
        <p:nvSpPr>
          <p:cNvPr id="162" name="Google Shape;162;p25"/>
          <p:cNvSpPr/>
          <p:nvPr/>
        </p:nvSpPr>
        <p:spPr>
          <a:xfrm>
            <a:off x="1021408" y="2157888"/>
            <a:ext cx="290100" cy="827700"/>
          </a:xfrm>
          <a:prstGeom prst="upDownArrow">
            <a:avLst>
              <a:gd fmla="val 38142" name="adj1"/>
              <a:gd fmla="val 50207"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63" name="Google Shape;163;p25"/>
          <p:cNvPicPr preferRelativeResize="0"/>
          <p:nvPr/>
        </p:nvPicPr>
        <p:blipFill rotWithShape="1">
          <a:blip r:embed="rId3">
            <a:alphaModFix/>
          </a:blip>
          <a:srcRect b="15699" l="26101" r="25841" t="13774"/>
          <a:stretch/>
        </p:blipFill>
        <p:spPr>
          <a:xfrm>
            <a:off x="7999126" y="575950"/>
            <a:ext cx="722724" cy="706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Architettura - Comunicazione ibrida</a:t>
            </a:r>
            <a:endParaRPr b="0" sz="1556">
              <a:latin typeface="Roboto Mono ExtraLight"/>
              <a:ea typeface="Roboto Mono ExtraLight"/>
              <a:cs typeface="Roboto Mono ExtraLight"/>
              <a:sym typeface="Roboto Mono ExtraLight"/>
            </a:endParaRPr>
          </a:p>
        </p:txBody>
      </p:sp>
      <p:sp>
        <p:nvSpPr>
          <p:cNvPr id="169" name="Google Shape;169;p26"/>
          <p:cNvSpPr txBox="1"/>
          <p:nvPr/>
        </p:nvSpPr>
        <p:spPr>
          <a:xfrm>
            <a:off x="2400250" y="1134975"/>
            <a:ext cx="6321600" cy="2979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100"/>
              </a:spcBef>
              <a:spcAft>
                <a:spcPts val="0"/>
              </a:spcAft>
              <a:buNone/>
            </a:pPr>
            <a:r>
              <a:rPr b="1" lang="it" sz="1800">
                <a:solidFill>
                  <a:schemeClr val="dk1"/>
                </a:solidFill>
                <a:latin typeface="Lato"/>
                <a:ea typeface="Lato"/>
                <a:cs typeface="Lato"/>
                <a:sym typeface="Lato"/>
              </a:rPr>
              <a:t>API REST (Azione &amp; Storico)</a:t>
            </a:r>
            <a:br>
              <a:rPr b="1" lang="it" sz="1800">
                <a:solidFill>
                  <a:schemeClr val="dk1"/>
                </a:solidFill>
                <a:latin typeface="Lato"/>
                <a:ea typeface="Lato"/>
                <a:cs typeface="Lato"/>
                <a:sym typeface="Lato"/>
              </a:rPr>
            </a:br>
            <a:r>
              <a:rPr i="1" lang="it">
                <a:solidFill>
                  <a:schemeClr val="dk2"/>
                </a:solidFill>
                <a:latin typeface="Lato"/>
                <a:ea typeface="Lato"/>
                <a:cs typeface="Lato"/>
                <a:sym typeface="Lato"/>
              </a:rPr>
              <a:t>Ruolo</a:t>
            </a:r>
            <a:r>
              <a:rPr lang="it">
                <a:solidFill>
                  <a:schemeClr val="dk2"/>
                </a:solidFill>
                <a:latin typeface="Lato"/>
                <a:ea typeface="Lato"/>
                <a:cs typeface="Lato"/>
                <a:sym typeface="Lato"/>
              </a:rPr>
              <a:t> → Operazioni </a:t>
            </a:r>
            <a:r>
              <a:rPr b="1" lang="it">
                <a:solidFill>
                  <a:schemeClr val="dk2"/>
                </a:solidFill>
                <a:latin typeface="Lato"/>
                <a:ea typeface="Lato"/>
                <a:cs typeface="Lato"/>
                <a:sym typeface="Lato"/>
              </a:rPr>
              <a:t>sincrone</a:t>
            </a:r>
            <a:r>
              <a:rPr lang="it">
                <a:solidFill>
                  <a:schemeClr val="dk2"/>
                </a:solidFill>
                <a:latin typeface="Lato"/>
                <a:ea typeface="Lato"/>
                <a:cs typeface="Lato"/>
                <a:sym typeface="Lato"/>
              </a:rPr>
              <a:t> (Client → Server)</a:t>
            </a:r>
            <a:br>
              <a:rPr lang="it">
                <a:solidFill>
                  <a:schemeClr val="dk2"/>
                </a:solidFill>
                <a:latin typeface="Lato"/>
                <a:ea typeface="Lato"/>
                <a:cs typeface="Lato"/>
                <a:sym typeface="Lato"/>
              </a:rPr>
            </a:br>
            <a:r>
              <a:rPr i="1" lang="it">
                <a:solidFill>
                  <a:schemeClr val="dk2"/>
                </a:solidFill>
                <a:latin typeface="Lato"/>
                <a:ea typeface="Lato"/>
                <a:cs typeface="Lato"/>
                <a:sym typeface="Lato"/>
              </a:rPr>
              <a:t>Cosa fa</a:t>
            </a:r>
            <a:r>
              <a:rPr lang="it">
                <a:solidFill>
                  <a:schemeClr val="dk2"/>
                </a:solidFill>
                <a:latin typeface="Lato"/>
                <a:ea typeface="Lato"/>
                <a:cs typeface="Lato"/>
                <a:sym typeface="Lato"/>
              </a:rPr>
              <a:t> → Login, invio dei messaggi, fetch storico chat e messaggi</a:t>
            </a:r>
            <a:br>
              <a:rPr lang="it">
                <a:solidFill>
                  <a:schemeClr val="dk2"/>
                </a:solidFill>
                <a:latin typeface="Lato"/>
                <a:ea typeface="Lato"/>
                <a:cs typeface="Lato"/>
                <a:sym typeface="Lato"/>
              </a:rPr>
            </a:br>
            <a:r>
              <a:rPr i="1" lang="it">
                <a:solidFill>
                  <a:schemeClr val="dk2"/>
                </a:solidFill>
                <a:latin typeface="Lato"/>
                <a:ea typeface="Lato"/>
                <a:cs typeface="Lato"/>
                <a:sym typeface="Lato"/>
              </a:rPr>
              <a:t>Perché</a:t>
            </a:r>
            <a:r>
              <a:rPr lang="it">
                <a:solidFill>
                  <a:schemeClr val="dk2"/>
                </a:solidFill>
                <a:latin typeface="Lato"/>
                <a:ea typeface="Lato"/>
                <a:cs typeface="Lato"/>
                <a:sym typeface="Lato"/>
              </a:rPr>
              <a:t> → Sfrutta il </a:t>
            </a:r>
            <a:r>
              <a:rPr b="1" lang="it">
                <a:solidFill>
                  <a:schemeClr val="dk2"/>
                </a:solidFill>
                <a:latin typeface="Lato"/>
                <a:ea typeface="Lato"/>
                <a:cs typeface="Lato"/>
                <a:sym typeface="Lato"/>
              </a:rPr>
              <a:t>routing Axum</a:t>
            </a:r>
            <a:r>
              <a:rPr lang="it">
                <a:solidFill>
                  <a:schemeClr val="dk2"/>
                </a:solidFill>
                <a:latin typeface="Lato"/>
                <a:ea typeface="Lato"/>
                <a:cs typeface="Lato"/>
                <a:sym typeface="Lato"/>
              </a:rPr>
              <a:t>, gestione nativa errori HTTP e validazione sicura tramite Extractors</a:t>
            </a:r>
            <a:endParaRPr>
              <a:solidFill>
                <a:schemeClr val="dk2"/>
              </a:solidFill>
              <a:latin typeface="Lato"/>
              <a:ea typeface="Lato"/>
              <a:cs typeface="Lato"/>
              <a:sym typeface="Lato"/>
            </a:endParaRPr>
          </a:p>
          <a:p>
            <a:pPr indent="0" lvl="0" marL="0" rtl="0" algn="l">
              <a:lnSpc>
                <a:spcPct val="115000"/>
              </a:lnSpc>
              <a:spcBef>
                <a:spcPts val="1100"/>
              </a:spcBef>
              <a:spcAft>
                <a:spcPts val="0"/>
              </a:spcAft>
              <a:buClr>
                <a:schemeClr val="dk2"/>
              </a:buClr>
              <a:buSzPts val="1100"/>
              <a:buFont typeface="Arial"/>
              <a:buNone/>
            </a:pPr>
            <a:r>
              <a:rPr b="1" lang="it" sz="1800">
                <a:solidFill>
                  <a:schemeClr val="dk1"/>
                </a:solidFill>
                <a:latin typeface="Lato"/>
                <a:ea typeface="Lato"/>
                <a:cs typeface="Lato"/>
                <a:sym typeface="Lato"/>
              </a:rPr>
              <a:t>WebSocket (solo notifiche)</a:t>
            </a:r>
            <a:br>
              <a:rPr b="1" lang="it" sz="1800">
                <a:solidFill>
                  <a:schemeClr val="dk1"/>
                </a:solidFill>
                <a:latin typeface="Lato"/>
                <a:ea typeface="Lato"/>
                <a:cs typeface="Lato"/>
                <a:sym typeface="Lato"/>
              </a:rPr>
            </a:br>
            <a:r>
              <a:rPr i="1" lang="it">
                <a:solidFill>
                  <a:schemeClr val="dk2"/>
                </a:solidFill>
                <a:latin typeface="Lato"/>
                <a:ea typeface="Lato"/>
                <a:cs typeface="Lato"/>
                <a:sym typeface="Lato"/>
              </a:rPr>
              <a:t>Ruolo</a:t>
            </a:r>
            <a:r>
              <a:rPr lang="it">
                <a:solidFill>
                  <a:schemeClr val="dk2"/>
                </a:solidFill>
                <a:latin typeface="Lato"/>
                <a:ea typeface="Lato"/>
                <a:cs typeface="Lato"/>
                <a:sym typeface="Lato"/>
              </a:rPr>
              <a:t> → Eventi </a:t>
            </a:r>
            <a:r>
              <a:rPr b="1" lang="it">
                <a:solidFill>
                  <a:schemeClr val="dk2"/>
                </a:solidFill>
                <a:latin typeface="Lato"/>
                <a:ea typeface="Lato"/>
                <a:cs typeface="Lato"/>
                <a:sym typeface="Lato"/>
              </a:rPr>
              <a:t>real-time</a:t>
            </a:r>
            <a:r>
              <a:rPr lang="it">
                <a:solidFill>
                  <a:schemeClr val="dk2"/>
                </a:solidFill>
                <a:latin typeface="Lato"/>
                <a:ea typeface="Lato"/>
                <a:cs typeface="Lato"/>
                <a:sym typeface="Lato"/>
              </a:rPr>
              <a:t> (Server → Client)</a:t>
            </a:r>
            <a:br>
              <a:rPr lang="it">
                <a:solidFill>
                  <a:schemeClr val="dk2"/>
                </a:solidFill>
                <a:latin typeface="Lato"/>
                <a:ea typeface="Lato"/>
                <a:cs typeface="Lato"/>
                <a:sym typeface="Lato"/>
              </a:rPr>
            </a:br>
            <a:r>
              <a:rPr i="1" lang="it">
                <a:solidFill>
                  <a:schemeClr val="dk2"/>
                </a:solidFill>
                <a:latin typeface="Lato"/>
                <a:ea typeface="Lato"/>
                <a:cs typeface="Lato"/>
                <a:sym typeface="Lato"/>
              </a:rPr>
              <a:t>Cosa</a:t>
            </a:r>
            <a:r>
              <a:rPr lang="it">
                <a:solidFill>
                  <a:schemeClr val="dk2"/>
                </a:solidFill>
                <a:latin typeface="Lato"/>
                <a:ea typeface="Lato"/>
                <a:cs typeface="Lato"/>
                <a:sym typeface="Lato"/>
              </a:rPr>
              <a:t> </a:t>
            </a:r>
            <a:r>
              <a:rPr i="1" lang="it">
                <a:solidFill>
                  <a:schemeClr val="dk2"/>
                </a:solidFill>
                <a:latin typeface="Lato"/>
                <a:ea typeface="Lato"/>
                <a:cs typeface="Lato"/>
                <a:sym typeface="Lato"/>
              </a:rPr>
              <a:t>fa</a:t>
            </a:r>
            <a:r>
              <a:rPr lang="it">
                <a:solidFill>
                  <a:schemeClr val="dk2"/>
                </a:solidFill>
                <a:latin typeface="Lato"/>
                <a:ea typeface="Lato"/>
                <a:cs typeface="Lato"/>
                <a:sym typeface="Lato"/>
              </a:rPr>
              <a:t> → Push di eventi asincroni (es. ricezione messaggi, inviti utenti, …)</a:t>
            </a:r>
            <a:br>
              <a:rPr lang="it">
                <a:solidFill>
                  <a:schemeClr val="dk2"/>
                </a:solidFill>
                <a:latin typeface="Lato"/>
                <a:ea typeface="Lato"/>
                <a:cs typeface="Lato"/>
                <a:sym typeface="Lato"/>
              </a:rPr>
            </a:br>
            <a:r>
              <a:rPr i="1" lang="it">
                <a:solidFill>
                  <a:schemeClr val="dk2"/>
                </a:solidFill>
                <a:latin typeface="Lato"/>
                <a:ea typeface="Lato"/>
                <a:cs typeface="Lato"/>
                <a:sym typeface="Lato"/>
              </a:rPr>
              <a:t>Perché</a:t>
            </a:r>
            <a:r>
              <a:rPr lang="it">
                <a:solidFill>
                  <a:schemeClr val="dk2"/>
                </a:solidFill>
                <a:latin typeface="Lato"/>
                <a:ea typeface="Lato"/>
                <a:cs typeface="Lato"/>
                <a:sym typeface="Lato"/>
              </a:rPr>
              <a:t> → </a:t>
            </a:r>
            <a:r>
              <a:rPr b="1" lang="it">
                <a:solidFill>
                  <a:schemeClr val="dk2"/>
                </a:solidFill>
                <a:latin typeface="Lato"/>
                <a:ea typeface="Lato"/>
                <a:cs typeface="Lato"/>
                <a:sym typeface="Lato"/>
              </a:rPr>
              <a:t>Unidirezionale</a:t>
            </a:r>
            <a:r>
              <a:rPr lang="it">
                <a:solidFill>
                  <a:schemeClr val="dk2"/>
                </a:solidFill>
                <a:latin typeface="Lato"/>
                <a:ea typeface="Lato"/>
                <a:cs typeface="Lato"/>
                <a:sym typeface="Lato"/>
              </a:rPr>
              <a:t> (read-only per il client), evita complessità nel server</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70" name="Google Shape;170;p26"/>
          <p:cNvSpPr/>
          <p:nvPr/>
        </p:nvSpPr>
        <p:spPr>
          <a:xfrm>
            <a:off x="638939" y="1651525"/>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Client</a:t>
            </a:r>
            <a:endParaRPr>
              <a:latin typeface="Lato"/>
              <a:ea typeface="Lato"/>
              <a:cs typeface="Lato"/>
              <a:sym typeface="Lato"/>
            </a:endParaRPr>
          </a:p>
        </p:txBody>
      </p:sp>
      <p:sp>
        <p:nvSpPr>
          <p:cNvPr id="171" name="Google Shape;171;p26"/>
          <p:cNvSpPr/>
          <p:nvPr/>
        </p:nvSpPr>
        <p:spPr>
          <a:xfrm>
            <a:off x="638939" y="2985600"/>
            <a:ext cx="1055100" cy="50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chemeClr val="dk2"/>
                </a:solidFill>
                <a:latin typeface="Lato"/>
                <a:ea typeface="Lato"/>
                <a:cs typeface="Lato"/>
                <a:sym typeface="Lato"/>
              </a:rPr>
              <a:t>Server</a:t>
            </a:r>
            <a:endParaRPr>
              <a:solidFill>
                <a:schemeClr val="dk2"/>
              </a:solidFill>
              <a:latin typeface="Lato"/>
              <a:ea typeface="Lato"/>
              <a:cs typeface="Lato"/>
              <a:sym typeface="Lato"/>
            </a:endParaRPr>
          </a:p>
        </p:txBody>
      </p:sp>
      <p:sp>
        <p:nvSpPr>
          <p:cNvPr id="172" name="Google Shape;172;p26"/>
          <p:cNvSpPr/>
          <p:nvPr/>
        </p:nvSpPr>
        <p:spPr>
          <a:xfrm>
            <a:off x="1021439" y="2157938"/>
            <a:ext cx="290100" cy="827700"/>
          </a:xfrm>
          <a:prstGeom prst="upDownArrow">
            <a:avLst>
              <a:gd fmla="val 38142" name="adj1"/>
              <a:gd fmla="val 50207"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cxnSp>
        <p:nvCxnSpPr>
          <p:cNvPr id="177" name="Google Shape;177;p27"/>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178" name="Google Shape;178;p27"/>
          <p:cNvCxnSpPr/>
          <p:nvPr/>
        </p:nvCxnSpPr>
        <p:spPr>
          <a:xfrm>
            <a:off x="2477724" y="4964303"/>
            <a:ext cx="6244200" cy="0"/>
          </a:xfrm>
          <a:prstGeom prst="straightConnector1">
            <a:avLst/>
          </a:prstGeom>
          <a:noFill/>
          <a:ln cap="flat" cmpd="sng" w="19050">
            <a:solidFill>
              <a:schemeClr val="dk2"/>
            </a:solidFill>
            <a:prstDash val="solid"/>
            <a:round/>
            <a:headEnd len="sm" w="sm" type="none"/>
            <a:tailEnd len="sm" w="sm" type="none"/>
          </a:ln>
        </p:spPr>
      </p:cxnSp>
      <p:cxnSp>
        <p:nvCxnSpPr>
          <p:cNvPr id="179" name="Google Shape;179;p2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80" name="Google Shape;180;p27"/>
          <p:cNvSpPr txBox="1"/>
          <p:nvPr>
            <p:ph type="title"/>
          </p:nvPr>
        </p:nvSpPr>
        <p:spPr>
          <a:xfrm>
            <a:off x="476250" y="571500"/>
            <a:ext cx="819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it" sz="3200" u="none" strike="noStrike">
                <a:solidFill>
                  <a:srgbClr val="000000"/>
                </a:solidFill>
                <a:latin typeface="Raleway"/>
                <a:ea typeface="Raleway"/>
                <a:cs typeface="Raleway"/>
                <a:sym typeface="Raleway"/>
              </a:rPr>
              <a:t>Server - Il flusso di comunicazione</a:t>
            </a:r>
            <a:endParaRPr b="1" i="0" sz="3200" u="none" strike="noStrike">
              <a:solidFill>
                <a:srgbClr val="000000"/>
              </a:solidFill>
              <a:latin typeface="Raleway"/>
              <a:ea typeface="Raleway"/>
              <a:cs typeface="Raleway"/>
              <a:sym typeface="Raleway"/>
            </a:endParaRPr>
          </a:p>
        </p:txBody>
      </p:sp>
      <p:grpSp>
        <p:nvGrpSpPr>
          <p:cNvPr id="181" name="Google Shape;181;p27"/>
          <p:cNvGrpSpPr/>
          <p:nvPr/>
        </p:nvGrpSpPr>
        <p:grpSpPr>
          <a:xfrm>
            <a:off x="476250" y="1333500"/>
            <a:ext cx="8191500" cy="619200"/>
            <a:chOff x="476250" y="1333500"/>
            <a:chExt cx="8191500" cy="619200"/>
          </a:xfrm>
        </p:grpSpPr>
        <p:sp>
          <p:nvSpPr>
            <p:cNvPr id="182" name="Google Shape;182;p27"/>
            <p:cNvSpPr/>
            <p:nvPr/>
          </p:nvSpPr>
          <p:spPr>
            <a:xfrm>
              <a:off x="476250" y="1333500"/>
              <a:ext cx="8191500" cy="619200"/>
            </a:xfrm>
            <a:prstGeom prst="roundRect">
              <a:avLst>
                <a:gd fmla="val 12307" name="adj"/>
              </a:avLst>
            </a:prstGeom>
            <a:solidFill>
              <a:srgbClr val="F8F9FA"/>
            </a:solidFill>
            <a:ln cap="flat" cmpd="sng" w="9525">
              <a:solidFill>
                <a:srgbClr val="F465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7"/>
            <p:cNvSpPr txBox="1"/>
            <p:nvPr/>
          </p:nvSpPr>
          <p:spPr>
            <a:xfrm>
              <a:off x="476250" y="1333500"/>
              <a:ext cx="8191500" cy="6192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None/>
              </a:pPr>
              <a:r>
                <a:rPr b="1" lang="it" sz="1600">
                  <a:solidFill>
                    <a:srgbClr val="F46524"/>
                  </a:solidFill>
                  <a:latin typeface="Lato"/>
                  <a:ea typeface="Lato"/>
                  <a:cs typeface="Lato"/>
                  <a:sym typeface="Lato"/>
                </a:rPr>
                <a:t>1. Handshake &amp; Split</a:t>
              </a:r>
              <a:endParaRPr b="1" sz="1600">
                <a:solidFill>
                  <a:srgbClr val="F46524"/>
                </a:solidFill>
                <a:latin typeface="Lato"/>
                <a:ea typeface="Lato"/>
                <a:cs typeface="Lato"/>
                <a:sym typeface="Lato"/>
              </a:endParaRPr>
            </a:p>
            <a:p>
              <a:pPr indent="0" lvl="0" marL="0" rtl="0" algn="l">
                <a:spcBef>
                  <a:spcPts val="0"/>
                </a:spcBef>
                <a:spcAft>
                  <a:spcPts val="0"/>
                </a:spcAft>
                <a:buNone/>
              </a:pPr>
              <a:r>
                <a:rPr b="0" lang="it" sz="1200">
                  <a:solidFill>
                    <a:srgbClr val="000000"/>
                  </a:solidFill>
                  <a:latin typeface="Lato"/>
                  <a:ea typeface="Lato"/>
                  <a:cs typeface="Lato"/>
                  <a:sym typeface="Lato"/>
                </a:rPr>
                <a:t>La connessione HTTP fa l'upgrade. Il WebSocket viene diviso in </a:t>
              </a:r>
              <a:r>
                <a:rPr lang="it" sz="1200">
                  <a:solidFill>
                    <a:srgbClr val="000000"/>
                  </a:solidFill>
                  <a:latin typeface="Roboto Mono Light"/>
                  <a:ea typeface="Roboto Mono Light"/>
                  <a:cs typeface="Roboto Mono Light"/>
                  <a:sym typeface="Roboto Mono Light"/>
                </a:rPr>
                <a:t>ws_sender</a:t>
              </a:r>
              <a:r>
                <a:rPr b="0" lang="it" sz="1200">
                  <a:solidFill>
                    <a:srgbClr val="000000"/>
                  </a:solidFill>
                  <a:latin typeface="Lato"/>
                  <a:ea typeface="Lato"/>
                  <a:cs typeface="Lato"/>
                  <a:sym typeface="Lato"/>
                </a:rPr>
                <a:t> e </a:t>
              </a:r>
              <a:r>
                <a:rPr lang="it" sz="1200">
                  <a:solidFill>
                    <a:srgbClr val="000000"/>
                  </a:solidFill>
                  <a:latin typeface="Roboto Mono Light"/>
                  <a:ea typeface="Roboto Mono Light"/>
                  <a:cs typeface="Roboto Mono Light"/>
                  <a:sym typeface="Roboto Mono Light"/>
                </a:rPr>
                <a:t>ws_receiver</a:t>
              </a:r>
              <a:endParaRPr sz="1200">
                <a:solidFill>
                  <a:srgbClr val="000000"/>
                </a:solidFill>
                <a:latin typeface="Roboto Mono Light"/>
                <a:ea typeface="Roboto Mono Light"/>
                <a:cs typeface="Roboto Mono Light"/>
                <a:sym typeface="Roboto Mono Light"/>
              </a:endParaRPr>
            </a:p>
          </p:txBody>
        </p:sp>
      </p:grpSp>
      <p:pic>
        <p:nvPicPr>
          <p:cNvPr id="184" name="Google Shape;184;p27"/>
          <p:cNvPicPr preferRelativeResize="0"/>
          <p:nvPr/>
        </p:nvPicPr>
        <p:blipFill>
          <a:blip r:embed="rId3">
            <a:alphaModFix/>
          </a:blip>
          <a:stretch>
            <a:fillRect/>
          </a:stretch>
        </p:blipFill>
        <p:spPr>
          <a:xfrm>
            <a:off x="430713" y="2678750"/>
            <a:ext cx="8282580" cy="132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cxnSp>
        <p:nvCxnSpPr>
          <p:cNvPr id="189" name="Google Shape;189;p28"/>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190" name="Google Shape;190;p28"/>
          <p:cNvCxnSpPr/>
          <p:nvPr/>
        </p:nvCxnSpPr>
        <p:spPr>
          <a:xfrm>
            <a:off x="2477724" y="4964303"/>
            <a:ext cx="6244200" cy="0"/>
          </a:xfrm>
          <a:prstGeom prst="straightConnector1">
            <a:avLst/>
          </a:prstGeom>
          <a:noFill/>
          <a:ln cap="flat" cmpd="sng" w="19050">
            <a:solidFill>
              <a:schemeClr val="dk2"/>
            </a:solidFill>
            <a:prstDash val="solid"/>
            <a:round/>
            <a:headEnd len="sm" w="sm" type="none"/>
            <a:tailEnd len="sm" w="sm" type="none"/>
          </a:ln>
        </p:spPr>
      </p:cxnSp>
      <p:cxnSp>
        <p:nvCxnSpPr>
          <p:cNvPr id="191" name="Google Shape;191;p28"/>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92" name="Google Shape;192;p28"/>
          <p:cNvSpPr txBox="1"/>
          <p:nvPr>
            <p:ph type="title"/>
          </p:nvPr>
        </p:nvSpPr>
        <p:spPr>
          <a:xfrm>
            <a:off x="476250" y="571500"/>
            <a:ext cx="819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it" sz="3200" u="none" strike="noStrike">
                <a:solidFill>
                  <a:srgbClr val="000000"/>
                </a:solidFill>
                <a:latin typeface="Raleway"/>
                <a:ea typeface="Raleway"/>
                <a:cs typeface="Raleway"/>
                <a:sym typeface="Raleway"/>
              </a:rPr>
              <a:t>Server - Il flusso di comunicazione</a:t>
            </a:r>
            <a:endParaRPr b="1" i="0" sz="3200" u="none" strike="noStrike">
              <a:solidFill>
                <a:srgbClr val="000000"/>
              </a:solidFill>
              <a:latin typeface="Raleway"/>
              <a:ea typeface="Raleway"/>
              <a:cs typeface="Raleway"/>
              <a:sym typeface="Raleway"/>
            </a:endParaRPr>
          </a:p>
        </p:txBody>
      </p:sp>
      <p:grpSp>
        <p:nvGrpSpPr>
          <p:cNvPr id="193" name="Google Shape;193;p28"/>
          <p:cNvGrpSpPr/>
          <p:nvPr/>
        </p:nvGrpSpPr>
        <p:grpSpPr>
          <a:xfrm>
            <a:off x="476250" y="1333500"/>
            <a:ext cx="8191500" cy="619200"/>
            <a:chOff x="476250" y="1333500"/>
            <a:chExt cx="8191500" cy="619200"/>
          </a:xfrm>
        </p:grpSpPr>
        <p:sp>
          <p:nvSpPr>
            <p:cNvPr id="194" name="Google Shape;194;p28"/>
            <p:cNvSpPr/>
            <p:nvPr/>
          </p:nvSpPr>
          <p:spPr>
            <a:xfrm>
              <a:off x="476250" y="1333500"/>
              <a:ext cx="8191500" cy="619200"/>
            </a:xfrm>
            <a:prstGeom prst="roundRect">
              <a:avLst>
                <a:gd fmla="val 12307" name="adj"/>
              </a:avLst>
            </a:prstGeom>
            <a:solidFill>
              <a:srgbClr val="F8F9FA"/>
            </a:solidFill>
            <a:ln cap="flat" cmpd="sng" w="9525">
              <a:solidFill>
                <a:srgbClr val="F465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8"/>
            <p:cNvSpPr txBox="1"/>
            <p:nvPr/>
          </p:nvSpPr>
          <p:spPr>
            <a:xfrm>
              <a:off x="476250" y="1333500"/>
              <a:ext cx="8191500" cy="6192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None/>
              </a:pPr>
              <a:r>
                <a:rPr b="1" lang="it" sz="1600">
                  <a:solidFill>
                    <a:schemeClr val="dk1"/>
                  </a:solidFill>
                  <a:latin typeface="Lato"/>
                  <a:ea typeface="Lato"/>
                  <a:cs typeface="Lato"/>
                  <a:sym typeface="Lato"/>
                </a:rPr>
                <a:t>2. Registrazione</a:t>
              </a:r>
              <a:endParaRPr b="1" sz="1600">
                <a:solidFill>
                  <a:schemeClr val="dk1"/>
                </a:solidFill>
                <a:latin typeface="Lato"/>
                <a:ea typeface="Lato"/>
                <a:cs typeface="Lato"/>
                <a:sym typeface="Lato"/>
              </a:endParaRPr>
            </a:p>
            <a:p>
              <a:pPr indent="0" lvl="0" marL="0" rtl="0" algn="l">
                <a:spcBef>
                  <a:spcPts val="0"/>
                </a:spcBef>
                <a:spcAft>
                  <a:spcPts val="0"/>
                </a:spcAft>
                <a:buNone/>
              </a:pPr>
              <a:r>
                <a:rPr lang="it" sz="1200">
                  <a:solidFill>
                    <a:schemeClr val="dk2"/>
                  </a:solidFill>
                  <a:latin typeface="Lato"/>
                  <a:ea typeface="Lato"/>
                  <a:cs typeface="Lato"/>
                  <a:sym typeface="Lato"/>
                </a:rPr>
                <a:t>Creazione del canale MPSC. Il </a:t>
              </a:r>
              <a:r>
                <a:rPr lang="it" sz="1200">
                  <a:solidFill>
                    <a:schemeClr val="dk2"/>
                  </a:solidFill>
                  <a:latin typeface="Roboto Mono Light"/>
                  <a:ea typeface="Roboto Mono Light"/>
                  <a:cs typeface="Roboto Mono Light"/>
                  <a:sym typeface="Roboto Mono Light"/>
                </a:rPr>
                <a:t>Tx</a:t>
              </a:r>
              <a:r>
                <a:rPr lang="it" sz="1200">
                  <a:solidFill>
                    <a:schemeClr val="dk2"/>
                  </a:solidFill>
                  <a:latin typeface="Lato"/>
                  <a:ea typeface="Lato"/>
                  <a:cs typeface="Lato"/>
                  <a:sym typeface="Lato"/>
                </a:rPr>
                <a:t> viene salvato in </a:t>
              </a:r>
              <a:r>
                <a:rPr lang="it" sz="1200">
                  <a:solidFill>
                    <a:schemeClr val="dk2"/>
                  </a:solidFill>
                  <a:latin typeface="Roboto Mono Light"/>
                  <a:ea typeface="Roboto Mono Light"/>
                  <a:cs typeface="Roboto Mono Light"/>
                  <a:sym typeface="Roboto Mono Light"/>
                </a:rPr>
                <a:t>notification_peers</a:t>
              </a:r>
              <a:endParaRPr b="1" sz="1600">
                <a:solidFill>
                  <a:srgbClr val="F46524"/>
                </a:solidFill>
                <a:latin typeface="Lato"/>
                <a:ea typeface="Lato"/>
                <a:cs typeface="Lato"/>
                <a:sym typeface="Lato"/>
              </a:endParaRPr>
            </a:p>
          </p:txBody>
        </p:sp>
      </p:grpSp>
      <p:sp>
        <p:nvSpPr>
          <p:cNvPr id="196" name="Google Shape;196;p28"/>
          <p:cNvSpPr txBox="1"/>
          <p:nvPr/>
        </p:nvSpPr>
        <p:spPr>
          <a:xfrm>
            <a:off x="2308275" y="1812722"/>
            <a:ext cx="6321600" cy="90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t/>
            </a:r>
            <a:endParaRPr sz="1600">
              <a:solidFill>
                <a:schemeClr val="dk2"/>
              </a:solidFill>
              <a:latin typeface="Lato"/>
              <a:ea typeface="Lato"/>
              <a:cs typeface="Lato"/>
              <a:sym typeface="Lato"/>
            </a:endParaRPr>
          </a:p>
          <a:p>
            <a:pPr indent="0" lvl="0" marL="0" rtl="0" algn="l">
              <a:lnSpc>
                <a:spcPct val="115000"/>
              </a:lnSpc>
              <a:spcBef>
                <a:spcPts val="1200"/>
              </a:spcBef>
              <a:spcAft>
                <a:spcPts val="0"/>
              </a:spcAft>
              <a:buClr>
                <a:schemeClr val="dk2"/>
              </a:buClr>
              <a:buSzPts val="1100"/>
              <a:buFont typeface="Arial"/>
              <a:buNone/>
            </a:pPr>
            <a:r>
              <a:rPr lang="it" sz="1200">
                <a:solidFill>
                  <a:srgbClr val="6AA84F"/>
                </a:solidFill>
                <a:latin typeface="Roboto Mono"/>
                <a:ea typeface="Roboto Mono"/>
                <a:cs typeface="Roboto Mono"/>
                <a:sym typeface="Roboto Mono"/>
              </a:rPr>
              <a:t>Arc</a:t>
            </a:r>
            <a:r>
              <a:rPr lang="it" sz="1200">
                <a:solidFill>
                  <a:schemeClr val="dk2"/>
                </a:solidFill>
                <a:latin typeface="Roboto Mono"/>
                <a:ea typeface="Roboto Mono"/>
                <a:cs typeface="Roboto Mono"/>
                <a:sym typeface="Roboto Mono"/>
              </a:rPr>
              <a:t>&lt;</a:t>
            </a:r>
            <a:r>
              <a:rPr lang="it" sz="1200">
                <a:solidFill>
                  <a:srgbClr val="6AA84F"/>
                </a:solidFill>
                <a:latin typeface="Roboto Mono"/>
                <a:ea typeface="Roboto Mono"/>
                <a:cs typeface="Roboto Mono"/>
                <a:sym typeface="Roboto Mono"/>
              </a:rPr>
              <a:t>RwLock</a:t>
            </a:r>
            <a:r>
              <a:rPr lang="it" sz="1200">
                <a:solidFill>
                  <a:schemeClr val="dk2"/>
                </a:solidFill>
                <a:latin typeface="Roboto Mono"/>
                <a:ea typeface="Roboto Mono"/>
                <a:cs typeface="Roboto Mono"/>
                <a:sym typeface="Roboto Mono"/>
              </a:rPr>
              <a:t>&lt;</a:t>
            </a:r>
            <a:r>
              <a:rPr lang="it" sz="1200">
                <a:solidFill>
                  <a:srgbClr val="6AA84F"/>
                </a:solidFill>
                <a:latin typeface="Roboto Mono"/>
                <a:ea typeface="Roboto Mono"/>
                <a:cs typeface="Roboto Mono"/>
                <a:sym typeface="Roboto Mono"/>
              </a:rPr>
              <a:t>HashMap</a:t>
            </a:r>
            <a:r>
              <a:rPr lang="it" sz="1200">
                <a:solidFill>
                  <a:schemeClr val="dk2"/>
                </a:solidFill>
                <a:latin typeface="Roboto Mono"/>
                <a:ea typeface="Roboto Mono"/>
                <a:cs typeface="Roboto Mono"/>
                <a:sym typeface="Roboto Mono"/>
              </a:rPr>
              <a:t>&lt;</a:t>
            </a:r>
            <a:r>
              <a:rPr lang="it" sz="1200">
                <a:solidFill>
                  <a:srgbClr val="6AA84F"/>
                </a:solidFill>
                <a:latin typeface="Roboto Mono"/>
                <a:ea typeface="Roboto Mono"/>
                <a:cs typeface="Roboto Mono"/>
                <a:sym typeface="Roboto Mono"/>
              </a:rPr>
              <a:t>i64</a:t>
            </a:r>
            <a:r>
              <a:rPr lang="it" sz="1200">
                <a:solidFill>
                  <a:schemeClr val="dk2"/>
                </a:solidFill>
                <a:latin typeface="Roboto Mono"/>
                <a:ea typeface="Roboto Mono"/>
                <a:cs typeface="Roboto Mono"/>
                <a:sym typeface="Roboto Mono"/>
              </a:rPr>
              <a:t>, </a:t>
            </a:r>
            <a:r>
              <a:rPr lang="it" sz="1200">
                <a:solidFill>
                  <a:srgbClr val="6AA84F"/>
                </a:solidFill>
                <a:latin typeface="Roboto Mono"/>
                <a:ea typeface="Roboto Mono"/>
                <a:cs typeface="Roboto Mono"/>
                <a:sym typeface="Roboto Mono"/>
              </a:rPr>
              <a:t>HashMap</a:t>
            </a:r>
            <a:r>
              <a:rPr lang="it" sz="1200">
                <a:solidFill>
                  <a:schemeClr val="dk2"/>
                </a:solidFill>
                <a:latin typeface="Roboto Mono"/>
                <a:ea typeface="Roboto Mono"/>
                <a:cs typeface="Roboto Mono"/>
                <a:sym typeface="Roboto Mono"/>
              </a:rPr>
              <a:t>&lt;</a:t>
            </a:r>
            <a:r>
              <a:rPr lang="it" sz="1200">
                <a:solidFill>
                  <a:srgbClr val="6AA84F"/>
                </a:solidFill>
                <a:latin typeface="Roboto Mono"/>
                <a:ea typeface="Roboto Mono"/>
                <a:cs typeface="Roboto Mono"/>
                <a:sym typeface="Roboto Mono"/>
              </a:rPr>
              <a:t>u64</a:t>
            </a:r>
            <a:r>
              <a:rPr lang="it" sz="1200">
                <a:solidFill>
                  <a:schemeClr val="dk2"/>
                </a:solidFill>
                <a:latin typeface="Roboto Mono"/>
                <a:ea typeface="Roboto Mono"/>
                <a:cs typeface="Roboto Mono"/>
                <a:sym typeface="Roboto Mono"/>
              </a:rPr>
              <a:t>, </a:t>
            </a:r>
            <a:r>
              <a:rPr lang="it" sz="1200">
                <a:solidFill>
                  <a:srgbClr val="6AA84F"/>
                </a:solidFill>
                <a:latin typeface="Roboto Mono"/>
                <a:ea typeface="Roboto Mono"/>
                <a:cs typeface="Roboto Mono"/>
                <a:sym typeface="Roboto Mono"/>
              </a:rPr>
              <a:t>UnboundedSender</a:t>
            </a:r>
            <a:r>
              <a:rPr lang="it" sz="1200">
                <a:solidFill>
                  <a:schemeClr val="dk2"/>
                </a:solidFill>
                <a:latin typeface="Roboto Mono"/>
                <a:ea typeface="Roboto Mono"/>
                <a:cs typeface="Roboto Mono"/>
                <a:sym typeface="Roboto Mono"/>
              </a:rPr>
              <a:t>&lt;</a:t>
            </a:r>
            <a:r>
              <a:rPr lang="it" sz="1200">
                <a:solidFill>
                  <a:srgbClr val="6AA84F"/>
                </a:solidFill>
                <a:latin typeface="Roboto Mono"/>
                <a:ea typeface="Roboto Mono"/>
                <a:cs typeface="Roboto Mono"/>
                <a:sym typeface="Roboto Mono"/>
              </a:rPr>
              <a:t>Message</a:t>
            </a:r>
            <a:r>
              <a:rPr lang="it" sz="1200">
                <a:solidFill>
                  <a:schemeClr val="dk2"/>
                </a:solidFill>
                <a:latin typeface="Roboto Mono"/>
                <a:ea typeface="Roboto Mono"/>
                <a:cs typeface="Roboto Mono"/>
                <a:sym typeface="Roboto Mono"/>
              </a:rPr>
              <a:t>&gt;&gt;&gt;&gt;&gt;</a:t>
            </a:r>
            <a:endParaRPr sz="1800">
              <a:solidFill>
                <a:schemeClr val="dk2"/>
              </a:solidFill>
              <a:latin typeface="Lato"/>
              <a:ea typeface="Lato"/>
              <a:cs typeface="Lato"/>
              <a:sym typeface="Lato"/>
            </a:endParaRPr>
          </a:p>
          <a:p>
            <a:pPr indent="0" lvl="0" marL="0" rtl="0" algn="l">
              <a:spcBef>
                <a:spcPts val="1200"/>
              </a:spcBef>
              <a:spcAft>
                <a:spcPts val="0"/>
              </a:spcAft>
              <a:buNone/>
            </a:pPr>
            <a:r>
              <a:t/>
            </a:r>
            <a:endParaRPr sz="1800">
              <a:solidFill>
                <a:schemeClr val="dk2"/>
              </a:solidFill>
              <a:latin typeface="Lato"/>
              <a:ea typeface="Lato"/>
              <a:cs typeface="Lato"/>
              <a:sym typeface="Lato"/>
            </a:endParaRPr>
          </a:p>
        </p:txBody>
      </p:sp>
      <p:cxnSp>
        <p:nvCxnSpPr>
          <p:cNvPr id="197" name="Google Shape;197;p28"/>
          <p:cNvCxnSpPr/>
          <p:nvPr/>
        </p:nvCxnSpPr>
        <p:spPr>
          <a:xfrm rot="-5400000">
            <a:off x="1982050" y="2632591"/>
            <a:ext cx="1083300" cy="1024800"/>
          </a:xfrm>
          <a:prstGeom prst="curvedConnector3">
            <a:avLst>
              <a:gd fmla="val 50000" name="adj1"/>
            </a:avLst>
          </a:prstGeom>
          <a:noFill/>
          <a:ln cap="flat" cmpd="sng" w="9525">
            <a:solidFill>
              <a:schemeClr val="dk2"/>
            </a:solidFill>
            <a:prstDash val="solid"/>
            <a:round/>
            <a:headEnd len="med" w="med" type="stealth"/>
            <a:tailEnd len="med" w="med" type="none"/>
          </a:ln>
        </p:spPr>
      </p:cxnSp>
      <p:sp>
        <p:nvSpPr>
          <p:cNvPr id="198" name="Google Shape;198;p28"/>
          <p:cNvSpPr txBox="1"/>
          <p:nvPr/>
        </p:nvSpPr>
        <p:spPr>
          <a:xfrm>
            <a:off x="234975" y="3686641"/>
            <a:ext cx="3220800" cy="6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2"/>
                </a:solidFill>
                <a:latin typeface="Lato"/>
                <a:ea typeface="Lato"/>
                <a:cs typeface="Lato"/>
                <a:sym typeface="Lato"/>
              </a:rPr>
              <a:t>Ottimizzazione per la </a:t>
            </a:r>
            <a:r>
              <a:rPr b="1" lang="it" sz="1200">
                <a:solidFill>
                  <a:schemeClr val="dk2"/>
                </a:solidFill>
                <a:latin typeface="Lato"/>
                <a:ea typeface="Lato"/>
                <a:cs typeface="Lato"/>
                <a:sym typeface="Lato"/>
              </a:rPr>
              <a:t>concorrenza asincrona</a:t>
            </a:r>
            <a:r>
              <a:rPr lang="it" sz="1200">
                <a:solidFill>
                  <a:schemeClr val="dk2"/>
                </a:solidFill>
                <a:latin typeface="Lato"/>
                <a:ea typeface="Lato"/>
                <a:cs typeface="Lato"/>
                <a:sym typeface="Lato"/>
              </a:rPr>
              <a:t>:</a:t>
            </a:r>
            <a:endParaRPr sz="1200">
              <a:solidFill>
                <a:schemeClr val="dk2"/>
              </a:solidFill>
              <a:latin typeface="Lato"/>
              <a:ea typeface="Lato"/>
              <a:cs typeface="Lato"/>
              <a:sym typeface="Lato"/>
            </a:endParaRPr>
          </a:p>
          <a:p>
            <a:pPr indent="0" lvl="0" marL="0" rtl="0" algn="l">
              <a:spcBef>
                <a:spcPts val="0"/>
              </a:spcBef>
              <a:spcAft>
                <a:spcPts val="0"/>
              </a:spcAft>
              <a:buNone/>
            </a:pPr>
            <a:r>
              <a:rPr b="1" lang="it" sz="1200">
                <a:solidFill>
                  <a:schemeClr val="dk2"/>
                </a:solidFill>
                <a:latin typeface="Lato"/>
                <a:ea typeface="Lato"/>
                <a:cs typeface="Lato"/>
                <a:sym typeface="Lato"/>
              </a:rPr>
              <a:t>Read</a:t>
            </a:r>
            <a:r>
              <a:rPr lang="it" sz="1200">
                <a:solidFill>
                  <a:schemeClr val="dk2"/>
                </a:solidFill>
                <a:latin typeface="Lato"/>
                <a:ea typeface="Lato"/>
                <a:cs typeface="Lato"/>
                <a:sym typeface="Lato"/>
              </a:rPr>
              <a:t> → invio dei messaggi (parallelo)</a:t>
            </a:r>
            <a:endParaRPr sz="1200">
              <a:solidFill>
                <a:schemeClr val="dk2"/>
              </a:solidFill>
              <a:latin typeface="Lato"/>
              <a:ea typeface="Lato"/>
              <a:cs typeface="Lato"/>
              <a:sym typeface="Lato"/>
            </a:endParaRPr>
          </a:p>
          <a:p>
            <a:pPr indent="0" lvl="0" marL="0" rtl="0" algn="l">
              <a:spcBef>
                <a:spcPts val="0"/>
              </a:spcBef>
              <a:spcAft>
                <a:spcPts val="0"/>
              </a:spcAft>
              <a:buNone/>
            </a:pPr>
            <a:r>
              <a:rPr b="1" lang="it" sz="1200">
                <a:solidFill>
                  <a:schemeClr val="dk2"/>
                </a:solidFill>
                <a:latin typeface="Lato"/>
                <a:ea typeface="Lato"/>
                <a:cs typeface="Lato"/>
                <a:sym typeface="Lato"/>
              </a:rPr>
              <a:t>Write</a:t>
            </a:r>
            <a:r>
              <a:rPr lang="it" sz="1200">
                <a:solidFill>
                  <a:schemeClr val="dk2"/>
                </a:solidFill>
                <a:latin typeface="Lato"/>
                <a:ea typeface="Lato"/>
                <a:cs typeface="Lato"/>
                <a:sym typeface="Lato"/>
              </a:rPr>
              <a:t> → connessione/disconnessione</a:t>
            </a:r>
            <a:endParaRPr sz="1200">
              <a:solidFill>
                <a:schemeClr val="dk2"/>
              </a:solidFill>
              <a:latin typeface="Lato"/>
              <a:ea typeface="Lato"/>
              <a:cs typeface="Lato"/>
              <a:sym typeface="Lato"/>
            </a:endParaRPr>
          </a:p>
        </p:txBody>
      </p:sp>
      <p:cxnSp>
        <p:nvCxnSpPr>
          <p:cNvPr id="199" name="Google Shape;199;p28"/>
          <p:cNvCxnSpPr/>
          <p:nvPr/>
        </p:nvCxnSpPr>
        <p:spPr>
          <a:xfrm rot="-5400000">
            <a:off x="3283250" y="3405491"/>
            <a:ext cx="1839600" cy="235500"/>
          </a:xfrm>
          <a:prstGeom prst="curvedConnector3">
            <a:avLst>
              <a:gd fmla="val 50000" name="adj1"/>
            </a:avLst>
          </a:prstGeom>
          <a:noFill/>
          <a:ln cap="flat" cmpd="sng" w="9525">
            <a:solidFill>
              <a:schemeClr val="dk2"/>
            </a:solidFill>
            <a:prstDash val="solid"/>
            <a:round/>
            <a:headEnd len="med" w="med" type="stealth"/>
            <a:tailEnd len="med" w="med" type="none"/>
          </a:ln>
        </p:spPr>
      </p:cxnSp>
      <p:sp>
        <p:nvSpPr>
          <p:cNvPr id="200" name="Google Shape;200;p28"/>
          <p:cNvSpPr txBox="1"/>
          <p:nvPr/>
        </p:nvSpPr>
        <p:spPr>
          <a:xfrm>
            <a:off x="2959150" y="4443041"/>
            <a:ext cx="2292600" cy="5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2"/>
                </a:solidFill>
                <a:latin typeface="Roboto Mono Light"/>
                <a:ea typeface="Roboto Mono Light"/>
                <a:cs typeface="Roboto Mono Light"/>
                <a:sym typeface="Roboto Mono Light"/>
              </a:rPr>
              <a:t>id</a:t>
            </a:r>
            <a:r>
              <a:rPr lang="it" sz="1200">
                <a:solidFill>
                  <a:schemeClr val="dk2"/>
                </a:solidFill>
                <a:latin typeface="Lato"/>
                <a:ea typeface="Lato"/>
                <a:cs typeface="Lato"/>
                <a:sym typeface="Lato"/>
              </a:rPr>
              <a:t> di un utente con almeno una connessione attiva</a:t>
            </a:r>
            <a:endParaRPr sz="1200">
              <a:solidFill>
                <a:schemeClr val="dk2"/>
              </a:solidFill>
              <a:latin typeface="Lato"/>
              <a:ea typeface="Lato"/>
              <a:cs typeface="Lato"/>
              <a:sym typeface="Lato"/>
            </a:endParaRPr>
          </a:p>
        </p:txBody>
      </p:sp>
      <p:cxnSp>
        <p:nvCxnSpPr>
          <p:cNvPr id="201" name="Google Shape;201;p28"/>
          <p:cNvCxnSpPr/>
          <p:nvPr/>
        </p:nvCxnSpPr>
        <p:spPr>
          <a:xfrm rot="-5400000">
            <a:off x="4976775" y="2712441"/>
            <a:ext cx="619500" cy="401700"/>
          </a:xfrm>
          <a:prstGeom prst="curvedConnector3">
            <a:avLst>
              <a:gd fmla="val 50000" name="adj1"/>
            </a:avLst>
          </a:prstGeom>
          <a:noFill/>
          <a:ln cap="flat" cmpd="sng" w="9525">
            <a:solidFill>
              <a:schemeClr val="dk2"/>
            </a:solidFill>
            <a:prstDash val="solid"/>
            <a:round/>
            <a:headEnd len="med" w="med" type="stealth"/>
            <a:tailEnd len="med" w="med" type="none"/>
          </a:ln>
        </p:spPr>
      </p:cxnSp>
      <p:sp>
        <p:nvSpPr>
          <p:cNvPr id="202" name="Google Shape;202;p28"/>
          <p:cNvSpPr txBox="1"/>
          <p:nvPr/>
        </p:nvSpPr>
        <p:spPr>
          <a:xfrm>
            <a:off x="4320800" y="3159616"/>
            <a:ext cx="1664700" cy="7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2"/>
                </a:solidFill>
                <a:latin typeface="Roboto Mono Light"/>
                <a:ea typeface="Roboto Mono Light"/>
                <a:cs typeface="Roboto Mono Light"/>
                <a:sym typeface="Roboto Mono Light"/>
              </a:rPr>
              <a:t>id</a:t>
            </a:r>
            <a:r>
              <a:rPr lang="it" sz="1200">
                <a:solidFill>
                  <a:schemeClr val="dk2"/>
                </a:solidFill>
                <a:latin typeface="Lato"/>
                <a:ea typeface="Lato"/>
                <a:cs typeface="Lato"/>
                <a:sym typeface="Lato"/>
              </a:rPr>
              <a:t> della connessione generato con </a:t>
            </a:r>
            <a:r>
              <a:rPr lang="it" sz="1200">
                <a:solidFill>
                  <a:schemeClr val="dk2"/>
                </a:solidFill>
                <a:latin typeface="Roboto Mono Light"/>
                <a:ea typeface="Roboto Mono Light"/>
                <a:cs typeface="Roboto Mono Light"/>
                <a:sym typeface="Roboto Mono Light"/>
              </a:rPr>
              <a:t>AtomicU64</a:t>
            </a:r>
            <a:endParaRPr sz="1200">
              <a:solidFill>
                <a:schemeClr val="dk2"/>
              </a:solidFill>
              <a:latin typeface="Roboto Mono Light"/>
              <a:ea typeface="Roboto Mono Light"/>
              <a:cs typeface="Roboto Mono Light"/>
              <a:sym typeface="Roboto Mono Light"/>
            </a:endParaRPr>
          </a:p>
        </p:txBody>
      </p:sp>
      <p:cxnSp>
        <p:nvCxnSpPr>
          <p:cNvPr id="203" name="Google Shape;203;p28"/>
          <p:cNvCxnSpPr/>
          <p:nvPr/>
        </p:nvCxnSpPr>
        <p:spPr>
          <a:xfrm rot="-5400000">
            <a:off x="5653225" y="3075566"/>
            <a:ext cx="1322100" cy="378300"/>
          </a:xfrm>
          <a:prstGeom prst="curvedConnector3">
            <a:avLst>
              <a:gd fmla="val 50000" name="adj1"/>
            </a:avLst>
          </a:prstGeom>
          <a:noFill/>
          <a:ln cap="flat" cmpd="sng" w="9525">
            <a:solidFill>
              <a:schemeClr val="dk2"/>
            </a:solidFill>
            <a:prstDash val="solid"/>
            <a:round/>
            <a:headEnd len="med" w="med" type="stealth"/>
            <a:tailEnd len="med" w="med" type="none"/>
          </a:ln>
        </p:spPr>
      </p:cxnSp>
      <p:sp>
        <p:nvSpPr>
          <p:cNvPr id="204" name="Google Shape;204;p28"/>
          <p:cNvSpPr txBox="1"/>
          <p:nvPr/>
        </p:nvSpPr>
        <p:spPr>
          <a:xfrm>
            <a:off x="5251750" y="3925766"/>
            <a:ext cx="2683800" cy="5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2"/>
                </a:solidFill>
                <a:latin typeface="Roboto Mono Light"/>
                <a:ea typeface="Roboto Mono Light"/>
                <a:cs typeface="Roboto Mono Light"/>
                <a:sym typeface="Roboto Mono Light"/>
              </a:rPr>
              <a:t>Sender</a:t>
            </a:r>
            <a:r>
              <a:rPr lang="it" sz="1200">
                <a:solidFill>
                  <a:schemeClr val="dk2"/>
                </a:solidFill>
                <a:latin typeface="Lato"/>
                <a:ea typeface="Lato"/>
                <a:cs typeface="Lato"/>
                <a:sym typeface="Lato"/>
              </a:rPr>
              <a:t> del canale MPSC attraverso cui inviare il messaggio WebSocket</a:t>
            </a:r>
            <a:endParaRPr sz="1200">
              <a:solidFill>
                <a:schemeClr val="dk2"/>
              </a:solidFill>
              <a:latin typeface="Roboto Mono Light"/>
              <a:ea typeface="Roboto Mono Light"/>
              <a:cs typeface="Roboto Mono Light"/>
              <a:sym typeface="Roboto Mono Light"/>
            </a:endParaRPr>
          </a:p>
        </p:txBody>
      </p:sp>
      <p:cxnSp>
        <p:nvCxnSpPr>
          <p:cNvPr id="205" name="Google Shape;205;p28"/>
          <p:cNvCxnSpPr/>
          <p:nvPr/>
        </p:nvCxnSpPr>
        <p:spPr>
          <a:xfrm rot="-5400000">
            <a:off x="7451550" y="2731316"/>
            <a:ext cx="307200" cy="51600"/>
          </a:xfrm>
          <a:prstGeom prst="curvedConnector3">
            <a:avLst>
              <a:gd fmla="val 50000" name="adj1"/>
            </a:avLst>
          </a:prstGeom>
          <a:noFill/>
          <a:ln cap="flat" cmpd="sng" w="9525">
            <a:solidFill>
              <a:schemeClr val="dk2"/>
            </a:solidFill>
            <a:prstDash val="solid"/>
            <a:round/>
            <a:headEnd len="med" w="med" type="stealth"/>
            <a:tailEnd len="med" w="med" type="none"/>
          </a:ln>
        </p:spPr>
      </p:cxnSp>
      <p:sp>
        <p:nvSpPr>
          <p:cNvPr id="206" name="Google Shape;206;p28"/>
          <p:cNvSpPr txBox="1"/>
          <p:nvPr/>
        </p:nvSpPr>
        <p:spPr>
          <a:xfrm>
            <a:off x="6825050" y="2881441"/>
            <a:ext cx="2135400" cy="7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it" sz="1200">
                <a:solidFill>
                  <a:schemeClr val="dk2"/>
                </a:solidFill>
                <a:latin typeface="Lato"/>
                <a:ea typeface="Lato"/>
                <a:cs typeface="Lato"/>
                <a:sym typeface="Lato"/>
              </a:rPr>
              <a:t>Enum di Axum che rappresenta un messaggio WebSocket</a:t>
            </a:r>
            <a:endParaRPr sz="1200">
              <a:solidFill>
                <a:schemeClr val="dk2"/>
              </a:solidFill>
              <a:latin typeface="Roboto Mono Light"/>
              <a:ea typeface="Roboto Mono Light"/>
              <a:cs typeface="Roboto Mono Light"/>
              <a:sym typeface="Roboto Mono Light"/>
            </a:endParaRPr>
          </a:p>
        </p:txBody>
      </p:sp>
      <p:sp>
        <p:nvSpPr>
          <p:cNvPr id="207" name="Google Shape;207;p28"/>
          <p:cNvSpPr txBox="1"/>
          <p:nvPr/>
        </p:nvSpPr>
        <p:spPr>
          <a:xfrm>
            <a:off x="41525" y="2145900"/>
            <a:ext cx="2388600" cy="85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2"/>
              </a:buClr>
              <a:buSzPts val="1100"/>
              <a:buFont typeface="Arial"/>
              <a:buNone/>
            </a:pPr>
            <a:r>
              <a:rPr lang="it" sz="1600">
                <a:solidFill>
                  <a:schemeClr val="dk2"/>
                </a:solidFill>
                <a:latin typeface="Lato"/>
                <a:ea typeface="Lato"/>
                <a:cs typeface="Lato"/>
                <a:sym typeface="Lato"/>
              </a:rPr>
              <a:t>Anatomia di </a:t>
            </a:r>
            <a:r>
              <a:rPr b="1" lang="it" sz="1600">
                <a:solidFill>
                  <a:schemeClr val="dk1"/>
                </a:solidFill>
                <a:latin typeface="Roboto Mono"/>
                <a:ea typeface="Roboto Mono"/>
                <a:cs typeface="Roboto Mono"/>
                <a:sym typeface="Roboto Mono"/>
              </a:rPr>
              <a:t>notification_peers</a:t>
            </a:r>
            <a:endParaRPr b="1" sz="1000">
              <a:solidFill>
                <a:schemeClr val="dk1"/>
              </a:solidFill>
              <a:latin typeface="Roboto Mono"/>
              <a:ea typeface="Roboto Mono"/>
              <a:cs typeface="Roboto Mono"/>
              <a:sym typeface="Roboto Mono"/>
            </a:endParaRPr>
          </a:p>
          <a:p>
            <a:pPr indent="0" lvl="0" marL="0" rtl="0" algn="ctr">
              <a:spcBef>
                <a:spcPts val="120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cxnSp>
        <p:nvCxnSpPr>
          <p:cNvPr id="212" name="Google Shape;212;p29"/>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13" name="Google Shape;213;p29"/>
          <p:cNvCxnSpPr/>
          <p:nvPr/>
        </p:nvCxnSpPr>
        <p:spPr>
          <a:xfrm>
            <a:off x="2477724" y="4964303"/>
            <a:ext cx="6244200" cy="0"/>
          </a:xfrm>
          <a:prstGeom prst="straightConnector1">
            <a:avLst/>
          </a:prstGeom>
          <a:noFill/>
          <a:ln cap="flat" cmpd="sng" w="19050">
            <a:solidFill>
              <a:schemeClr val="dk2"/>
            </a:solidFill>
            <a:prstDash val="solid"/>
            <a:round/>
            <a:headEnd len="sm" w="sm" type="none"/>
            <a:tailEnd len="sm" w="sm" type="none"/>
          </a:ln>
        </p:spPr>
      </p:cxnSp>
      <p:cxnSp>
        <p:nvCxnSpPr>
          <p:cNvPr id="214" name="Google Shape;214;p29"/>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15" name="Google Shape;215;p29"/>
          <p:cNvSpPr txBox="1"/>
          <p:nvPr>
            <p:ph type="title"/>
          </p:nvPr>
        </p:nvSpPr>
        <p:spPr>
          <a:xfrm>
            <a:off x="476250" y="571500"/>
            <a:ext cx="819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it" sz="3200" u="none" strike="noStrike">
                <a:solidFill>
                  <a:srgbClr val="000000"/>
                </a:solidFill>
                <a:latin typeface="Raleway"/>
                <a:ea typeface="Raleway"/>
                <a:cs typeface="Raleway"/>
                <a:sym typeface="Raleway"/>
              </a:rPr>
              <a:t>Server - Il flusso di comunicazione</a:t>
            </a:r>
            <a:endParaRPr b="1" i="0" sz="3200" u="none" strike="noStrike">
              <a:solidFill>
                <a:srgbClr val="000000"/>
              </a:solidFill>
              <a:latin typeface="Raleway"/>
              <a:ea typeface="Raleway"/>
              <a:cs typeface="Raleway"/>
              <a:sym typeface="Raleway"/>
            </a:endParaRPr>
          </a:p>
        </p:txBody>
      </p:sp>
      <p:grpSp>
        <p:nvGrpSpPr>
          <p:cNvPr id="216" name="Google Shape;216;p29"/>
          <p:cNvGrpSpPr/>
          <p:nvPr/>
        </p:nvGrpSpPr>
        <p:grpSpPr>
          <a:xfrm>
            <a:off x="476250" y="1333500"/>
            <a:ext cx="8191500" cy="619200"/>
            <a:chOff x="476250" y="1333500"/>
            <a:chExt cx="8191500" cy="619200"/>
          </a:xfrm>
        </p:grpSpPr>
        <p:sp>
          <p:nvSpPr>
            <p:cNvPr id="217" name="Google Shape;217;p29"/>
            <p:cNvSpPr/>
            <p:nvPr/>
          </p:nvSpPr>
          <p:spPr>
            <a:xfrm>
              <a:off x="476250" y="1333500"/>
              <a:ext cx="8191500" cy="619200"/>
            </a:xfrm>
            <a:prstGeom prst="roundRect">
              <a:avLst>
                <a:gd fmla="val 12307" name="adj"/>
              </a:avLst>
            </a:prstGeom>
            <a:solidFill>
              <a:srgbClr val="F8F9FA"/>
            </a:solidFill>
            <a:ln cap="flat" cmpd="sng" w="9525">
              <a:solidFill>
                <a:srgbClr val="F465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9"/>
            <p:cNvSpPr txBox="1"/>
            <p:nvPr/>
          </p:nvSpPr>
          <p:spPr>
            <a:xfrm>
              <a:off x="476250" y="1333500"/>
              <a:ext cx="8191500" cy="6192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Clr>
                  <a:schemeClr val="dk2"/>
                </a:buClr>
                <a:buSzPts val="1100"/>
                <a:buFont typeface="Arial"/>
                <a:buNone/>
              </a:pPr>
              <a:r>
                <a:rPr b="1" lang="it" sz="1600">
                  <a:solidFill>
                    <a:schemeClr val="dk1"/>
                  </a:solidFill>
                  <a:latin typeface="Lato"/>
                  <a:ea typeface="Lato"/>
                  <a:cs typeface="Lato"/>
                  <a:sym typeface="Lato"/>
                </a:rPr>
                <a:t>3. Broadcast</a:t>
              </a:r>
              <a:endParaRPr b="1" sz="1600">
                <a:solidFill>
                  <a:schemeClr val="dk1"/>
                </a:solidFill>
                <a:latin typeface="Lato"/>
                <a:ea typeface="Lato"/>
                <a:cs typeface="Lato"/>
                <a:sym typeface="Lato"/>
              </a:endParaRPr>
            </a:p>
            <a:p>
              <a:pPr indent="0" lvl="0" marL="0" rtl="0" algn="l">
                <a:spcBef>
                  <a:spcPts val="0"/>
                </a:spcBef>
                <a:spcAft>
                  <a:spcPts val="0"/>
                </a:spcAft>
                <a:buNone/>
              </a:pPr>
              <a:r>
                <a:rPr lang="it" sz="1200">
                  <a:solidFill>
                    <a:schemeClr val="dk2"/>
                  </a:solidFill>
                  <a:latin typeface="Lato"/>
                  <a:ea typeface="Lato"/>
                  <a:cs typeface="Lato"/>
                  <a:sym typeface="Lato"/>
                </a:rPr>
                <a:t>Un utente invia un messaggio tramite richiesta HTTP POST; il server recupera i </a:t>
              </a:r>
              <a:r>
                <a:rPr lang="it" sz="1200">
                  <a:solidFill>
                    <a:schemeClr val="dk2"/>
                  </a:solidFill>
                  <a:latin typeface="Roboto Mono Light"/>
                  <a:ea typeface="Roboto Mono Light"/>
                  <a:cs typeface="Roboto Mono Light"/>
                  <a:sym typeface="Roboto Mono Light"/>
                </a:rPr>
                <a:t>Tx</a:t>
              </a:r>
              <a:r>
                <a:rPr lang="it" sz="1200">
                  <a:solidFill>
                    <a:schemeClr val="dk2"/>
                  </a:solidFill>
                  <a:latin typeface="Lato"/>
                  <a:ea typeface="Lato"/>
                  <a:cs typeface="Lato"/>
                  <a:sym typeface="Lato"/>
                </a:rPr>
                <a:t> dalla mappa e invia il payload</a:t>
              </a:r>
              <a:endParaRPr b="1" sz="1600">
                <a:solidFill>
                  <a:srgbClr val="F46524"/>
                </a:solidFill>
                <a:latin typeface="Lato"/>
                <a:ea typeface="Lato"/>
                <a:cs typeface="Lato"/>
                <a:sym typeface="Lato"/>
              </a:endParaRPr>
            </a:p>
          </p:txBody>
        </p:sp>
      </p:grpSp>
      <p:pic>
        <p:nvPicPr>
          <p:cNvPr id="219" name="Google Shape;219;p29"/>
          <p:cNvPicPr preferRelativeResize="0"/>
          <p:nvPr/>
        </p:nvPicPr>
        <p:blipFill>
          <a:blip r:embed="rId3">
            <a:alphaModFix/>
          </a:blip>
          <a:stretch>
            <a:fillRect/>
          </a:stretch>
        </p:blipFill>
        <p:spPr>
          <a:xfrm>
            <a:off x="1479675" y="2432325"/>
            <a:ext cx="6184651" cy="1773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30"/>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25" name="Google Shape;225;p30"/>
          <p:cNvCxnSpPr/>
          <p:nvPr/>
        </p:nvCxnSpPr>
        <p:spPr>
          <a:xfrm>
            <a:off x="2477724" y="4964303"/>
            <a:ext cx="6244200" cy="0"/>
          </a:xfrm>
          <a:prstGeom prst="straightConnector1">
            <a:avLst/>
          </a:prstGeom>
          <a:noFill/>
          <a:ln cap="flat" cmpd="sng" w="19050">
            <a:solidFill>
              <a:schemeClr val="dk2"/>
            </a:solidFill>
            <a:prstDash val="solid"/>
            <a:round/>
            <a:headEnd len="sm" w="sm" type="none"/>
            <a:tailEnd len="sm" w="sm" type="none"/>
          </a:ln>
        </p:spPr>
      </p:cxnSp>
      <p:cxnSp>
        <p:nvCxnSpPr>
          <p:cNvPr id="226" name="Google Shape;226;p3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27" name="Google Shape;227;p30"/>
          <p:cNvSpPr txBox="1"/>
          <p:nvPr>
            <p:ph type="title"/>
          </p:nvPr>
        </p:nvSpPr>
        <p:spPr>
          <a:xfrm>
            <a:off x="476250" y="571500"/>
            <a:ext cx="819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it" sz="3200" u="none" strike="noStrike">
                <a:solidFill>
                  <a:srgbClr val="000000"/>
                </a:solidFill>
                <a:latin typeface="Raleway"/>
                <a:ea typeface="Raleway"/>
                <a:cs typeface="Raleway"/>
                <a:sym typeface="Raleway"/>
              </a:rPr>
              <a:t>Server - Il flusso di comunicazione</a:t>
            </a:r>
            <a:endParaRPr b="1" i="0" sz="3200" u="none" strike="noStrike">
              <a:solidFill>
                <a:srgbClr val="000000"/>
              </a:solidFill>
              <a:latin typeface="Raleway"/>
              <a:ea typeface="Raleway"/>
              <a:cs typeface="Raleway"/>
              <a:sym typeface="Raleway"/>
            </a:endParaRPr>
          </a:p>
        </p:txBody>
      </p:sp>
      <p:grpSp>
        <p:nvGrpSpPr>
          <p:cNvPr id="228" name="Google Shape;228;p30"/>
          <p:cNvGrpSpPr/>
          <p:nvPr/>
        </p:nvGrpSpPr>
        <p:grpSpPr>
          <a:xfrm>
            <a:off x="476250" y="1333500"/>
            <a:ext cx="8191500" cy="619200"/>
            <a:chOff x="476250" y="1333500"/>
            <a:chExt cx="8191500" cy="619200"/>
          </a:xfrm>
        </p:grpSpPr>
        <p:sp>
          <p:nvSpPr>
            <p:cNvPr id="229" name="Google Shape;229;p30"/>
            <p:cNvSpPr/>
            <p:nvPr/>
          </p:nvSpPr>
          <p:spPr>
            <a:xfrm>
              <a:off x="476250" y="1333500"/>
              <a:ext cx="8191500" cy="619200"/>
            </a:xfrm>
            <a:prstGeom prst="roundRect">
              <a:avLst>
                <a:gd fmla="val 12307" name="adj"/>
              </a:avLst>
            </a:prstGeom>
            <a:solidFill>
              <a:srgbClr val="F8F9FA"/>
            </a:solidFill>
            <a:ln cap="flat" cmpd="sng" w="9525">
              <a:solidFill>
                <a:srgbClr val="F465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30"/>
            <p:cNvSpPr txBox="1"/>
            <p:nvPr/>
          </p:nvSpPr>
          <p:spPr>
            <a:xfrm>
              <a:off x="476250" y="1333500"/>
              <a:ext cx="8191500" cy="6192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Clr>
                  <a:schemeClr val="dk2"/>
                </a:buClr>
                <a:buSzPts val="1100"/>
                <a:buFont typeface="Arial"/>
                <a:buNone/>
              </a:pPr>
              <a:r>
                <a:rPr b="1" lang="it" sz="1600">
                  <a:solidFill>
                    <a:schemeClr val="dk1"/>
                  </a:solidFill>
                  <a:latin typeface="Lato"/>
                  <a:ea typeface="Lato"/>
                  <a:cs typeface="Lato"/>
                  <a:sym typeface="Lato"/>
                </a:rPr>
                <a:t>4. Task di forwarding</a:t>
              </a:r>
              <a:endParaRPr b="1" sz="1600">
                <a:solidFill>
                  <a:schemeClr val="dk1"/>
                </a:solidFill>
                <a:latin typeface="Lato"/>
                <a:ea typeface="Lato"/>
                <a:cs typeface="Lato"/>
                <a:sym typeface="Lato"/>
              </a:endParaRPr>
            </a:p>
            <a:p>
              <a:pPr indent="0" lvl="0" marL="0" rtl="0" algn="l">
                <a:spcBef>
                  <a:spcPts val="0"/>
                </a:spcBef>
                <a:spcAft>
                  <a:spcPts val="0"/>
                </a:spcAft>
                <a:buNone/>
              </a:pPr>
              <a:r>
                <a:rPr lang="it" sz="1200">
                  <a:solidFill>
                    <a:schemeClr val="dk2"/>
                  </a:solidFill>
                  <a:latin typeface="Lato"/>
                  <a:ea typeface="Lato"/>
                  <a:cs typeface="Lato"/>
                  <a:sym typeface="Lato"/>
                </a:rPr>
                <a:t>Un thread dedicato, in attesa, legge dal </a:t>
              </a:r>
              <a:r>
                <a:rPr lang="it" sz="1200">
                  <a:solidFill>
                    <a:schemeClr val="dk2"/>
                  </a:solidFill>
                  <a:latin typeface="Roboto Mono Light"/>
                  <a:ea typeface="Roboto Mono Light"/>
                  <a:cs typeface="Roboto Mono Light"/>
                  <a:sym typeface="Roboto Mono Light"/>
                </a:rPr>
                <a:t>Rx</a:t>
              </a:r>
              <a:r>
                <a:rPr lang="it" sz="1200">
                  <a:solidFill>
                    <a:schemeClr val="dk2"/>
                  </a:solidFill>
                  <a:latin typeface="Lato"/>
                  <a:ea typeface="Lato"/>
                  <a:cs typeface="Lato"/>
                  <a:sym typeface="Lato"/>
                </a:rPr>
                <a:t> del canale e scrive fisicamente sul </a:t>
              </a:r>
              <a:r>
                <a:rPr lang="it" sz="1200">
                  <a:solidFill>
                    <a:schemeClr val="dk2"/>
                  </a:solidFill>
                  <a:latin typeface="Roboto Mono Light"/>
                  <a:ea typeface="Roboto Mono Light"/>
                  <a:cs typeface="Roboto Mono Light"/>
                  <a:sym typeface="Roboto Mono Light"/>
                </a:rPr>
                <a:t>ws_sender</a:t>
              </a:r>
              <a:endParaRPr b="1" sz="1600">
                <a:solidFill>
                  <a:srgbClr val="F46524"/>
                </a:solidFill>
                <a:latin typeface="Lato"/>
                <a:ea typeface="Lato"/>
                <a:cs typeface="Lato"/>
                <a:sym typeface="Lato"/>
              </a:endParaRPr>
            </a:p>
          </p:txBody>
        </p:sp>
      </p:grpSp>
      <p:pic>
        <p:nvPicPr>
          <p:cNvPr id="231" name="Google Shape;231;p30"/>
          <p:cNvPicPr preferRelativeResize="0"/>
          <p:nvPr/>
        </p:nvPicPr>
        <p:blipFill>
          <a:blip r:embed="rId3">
            <a:alphaModFix/>
          </a:blip>
          <a:stretch>
            <a:fillRect/>
          </a:stretch>
        </p:blipFill>
        <p:spPr>
          <a:xfrm>
            <a:off x="1643662" y="2366050"/>
            <a:ext cx="5856675" cy="1627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cxnSp>
        <p:nvCxnSpPr>
          <p:cNvPr id="236" name="Google Shape;236;p31"/>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7" name="Google Shape;237;p31"/>
          <p:cNvCxnSpPr/>
          <p:nvPr/>
        </p:nvCxnSpPr>
        <p:spPr>
          <a:xfrm>
            <a:off x="2477724" y="4964303"/>
            <a:ext cx="6244200" cy="0"/>
          </a:xfrm>
          <a:prstGeom prst="straightConnector1">
            <a:avLst/>
          </a:prstGeom>
          <a:noFill/>
          <a:ln cap="flat" cmpd="sng" w="19050">
            <a:solidFill>
              <a:schemeClr val="dk2"/>
            </a:solidFill>
            <a:prstDash val="solid"/>
            <a:round/>
            <a:headEnd len="sm" w="sm" type="none"/>
            <a:tailEnd len="sm" w="sm" type="none"/>
          </a:ln>
        </p:spPr>
      </p:cxnSp>
      <p:cxnSp>
        <p:nvCxnSpPr>
          <p:cNvPr id="238" name="Google Shape;238;p31"/>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39" name="Google Shape;239;p31"/>
          <p:cNvSpPr txBox="1"/>
          <p:nvPr>
            <p:ph type="title"/>
          </p:nvPr>
        </p:nvSpPr>
        <p:spPr>
          <a:xfrm>
            <a:off x="476250" y="571500"/>
            <a:ext cx="819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i="0" lang="it" sz="3200" u="none" strike="noStrike">
                <a:solidFill>
                  <a:srgbClr val="000000"/>
                </a:solidFill>
                <a:latin typeface="Raleway"/>
                <a:ea typeface="Raleway"/>
                <a:cs typeface="Raleway"/>
                <a:sym typeface="Raleway"/>
              </a:rPr>
              <a:t>Server - Il flusso di comunicazione</a:t>
            </a:r>
            <a:endParaRPr b="1" i="0" sz="3200" u="none" strike="noStrike">
              <a:solidFill>
                <a:srgbClr val="000000"/>
              </a:solidFill>
              <a:latin typeface="Raleway"/>
              <a:ea typeface="Raleway"/>
              <a:cs typeface="Raleway"/>
              <a:sym typeface="Raleway"/>
            </a:endParaRPr>
          </a:p>
        </p:txBody>
      </p:sp>
      <p:grpSp>
        <p:nvGrpSpPr>
          <p:cNvPr id="240" name="Google Shape;240;p31"/>
          <p:cNvGrpSpPr/>
          <p:nvPr/>
        </p:nvGrpSpPr>
        <p:grpSpPr>
          <a:xfrm>
            <a:off x="476250" y="1333500"/>
            <a:ext cx="8191500" cy="619200"/>
            <a:chOff x="476250" y="1333500"/>
            <a:chExt cx="8191500" cy="619200"/>
          </a:xfrm>
        </p:grpSpPr>
        <p:sp>
          <p:nvSpPr>
            <p:cNvPr id="241" name="Google Shape;241;p31"/>
            <p:cNvSpPr/>
            <p:nvPr/>
          </p:nvSpPr>
          <p:spPr>
            <a:xfrm>
              <a:off x="476250" y="1333500"/>
              <a:ext cx="8191500" cy="619200"/>
            </a:xfrm>
            <a:prstGeom prst="roundRect">
              <a:avLst>
                <a:gd fmla="val 12307" name="adj"/>
              </a:avLst>
            </a:prstGeom>
            <a:solidFill>
              <a:srgbClr val="F8F9FA"/>
            </a:solidFill>
            <a:ln cap="flat" cmpd="sng" w="9525">
              <a:solidFill>
                <a:srgbClr val="F4652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31"/>
            <p:cNvSpPr txBox="1"/>
            <p:nvPr/>
          </p:nvSpPr>
          <p:spPr>
            <a:xfrm>
              <a:off x="476250" y="1333500"/>
              <a:ext cx="8191500" cy="619200"/>
            </a:xfrm>
            <a:prstGeom prst="rect">
              <a:avLst/>
            </a:prstGeom>
            <a:noFill/>
            <a:ln>
              <a:noFill/>
            </a:ln>
          </p:spPr>
          <p:txBody>
            <a:bodyPr anchorCtr="0" anchor="ctr" bIns="0" lIns="190500" spcFirstLastPara="1" rIns="0" wrap="square" tIns="0">
              <a:noAutofit/>
            </a:bodyPr>
            <a:lstStyle/>
            <a:p>
              <a:pPr indent="0" lvl="0" marL="0" rtl="0" algn="l">
                <a:spcBef>
                  <a:spcPts val="0"/>
                </a:spcBef>
                <a:spcAft>
                  <a:spcPts val="0"/>
                </a:spcAft>
                <a:buClr>
                  <a:schemeClr val="dk2"/>
                </a:buClr>
                <a:buSzPts val="1100"/>
                <a:buFont typeface="Arial"/>
                <a:buNone/>
              </a:pPr>
              <a:r>
                <a:rPr b="1" lang="it" sz="1600">
                  <a:solidFill>
                    <a:schemeClr val="dk1"/>
                  </a:solidFill>
                  <a:latin typeface="Lato"/>
                  <a:ea typeface="Lato"/>
                  <a:cs typeface="Lato"/>
                  <a:sym typeface="Lato"/>
                </a:rPr>
                <a:t>5. Cleanup</a:t>
              </a:r>
              <a:endParaRPr b="1" sz="1600">
                <a:solidFill>
                  <a:schemeClr val="dk1"/>
                </a:solidFill>
                <a:latin typeface="Lato"/>
                <a:ea typeface="Lato"/>
                <a:cs typeface="Lato"/>
                <a:sym typeface="Lato"/>
              </a:endParaRPr>
            </a:p>
            <a:p>
              <a:pPr indent="0" lvl="0" marL="0" rtl="0" algn="l">
                <a:spcBef>
                  <a:spcPts val="0"/>
                </a:spcBef>
                <a:spcAft>
                  <a:spcPts val="0"/>
                </a:spcAft>
                <a:buNone/>
              </a:pPr>
              <a:r>
                <a:rPr lang="it" sz="1200">
                  <a:solidFill>
                    <a:schemeClr val="dk2"/>
                  </a:solidFill>
                  <a:latin typeface="Lato"/>
                  <a:ea typeface="Lato"/>
                  <a:cs typeface="Lato"/>
                  <a:sym typeface="Lato"/>
                </a:rPr>
                <a:t>Se il socket si chiude, il task muore e l'ID viene rimosso in modo sicuro dalla mappa</a:t>
              </a:r>
              <a:endParaRPr b="1" sz="1600">
                <a:solidFill>
                  <a:srgbClr val="F46524"/>
                </a:solidFill>
                <a:latin typeface="Lato"/>
                <a:ea typeface="Lato"/>
                <a:cs typeface="Lato"/>
                <a:sym typeface="Lato"/>
              </a:endParaRPr>
            </a:p>
          </p:txBody>
        </p:sp>
      </p:grpSp>
      <p:pic>
        <p:nvPicPr>
          <p:cNvPr id="243" name="Google Shape;243;p31"/>
          <p:cNvPicPr preferRelativeResize="0"/>
          <p:nvPr/>
        </p:nvPicPr>
        <p:blipFill>
          <a:blip r:embed="rId3">
            <a:alphaModFix/>
          </a:blip>
          <a:stretch>
            <a:fillRect/>
          </a:stretch>
        </p:blipFill>
        <p:spPr>
          <a:xfrm>
            <a:off x="1455450" y="2571751"/>
            <a:ext cx="6233090" cy="11219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Server - L’utilizz</a:t>
            </a:r>
            <a:r>
              <a:rPr lang="it"/>
              <a:t>o</a:t>
            </a:r>
            <a:r>
              <a:rPr lang="it"/>
              <a:t> dei canali MPSC</a:t>
            </a:r>
            <a:endParaRPr b="0" sz="1556">
              <a:latin typeface="Roboto Mono ExtraLight"/>
              <a:ea typeface="Roboto Mono ExtraLight"/>
              <a:cs typeface="Roboto Mono ExtraLight"/>
              <a:sym typeface="Roboto Mono ExtraLight"/>
            </a:endParaRPr>
          </a:p>
        </p:txBody>
      </p:sp>
      <p:sp>
        <p:nvSpPr>
          <p:cNvPr id="249" name="Google Shape;249;p32"/>
          <p:cNvSpPr txBox="1"/>
          <p:nvPr/>
        </p:nvSpPr>
        <p:spPr>
          <a:xfrm>
            <a:off x="2400250" y="1392225"/>
            <a:ext cx="6579600" cy="243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In memoria </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L’invio sul canale è in RAM, istantaneo e non bloccante</a:t>
            </a:r>
            <a:endParaRPr>
              <a:solidFill>
                <a:schemeClr val="dk2"/>
              </a:solidFill>
              <a:latin typeface="Lato"/>
              <a:ea typeface="Lato"/>
              <a:cs typeface="Lato"/>
              <a:sym typeface="Lato"/>
            </a:endParaRPr>
          </a:p>
          <a:p>
            <a:pPr indent="0" lvl="0" marL="0" rtl="0" algn="l">
              <a:lnSpc>
                <a:spcPct val="115000"/>
              </a:lnSpc>
              <a:spcBef>
                <a:spcPts val="1100"/>
              </a:spcBef>
              <a:spcAft>
                <a:spcPts val="0"/>
              </a:spcAft>
              <a:buNone/>
            </a:pPr>
            <a:r>
              <a:rPr b="1" lang="it" sz="1800">
                <a:solidFill>
                  <a:schemeClr val="dk1"/>
                </a:solidFill>
                <a:latin typeface="Lato"/>
                <a:ea typeface="Lato"/>
                <a:cs typeface="Lato"/>
                <a:sym typeface="Lato"/>
              </a:rPr>
              <a:t>Ownership semplificata </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Il server richiede solo un reference immutabile ed e facile da clonare</a:t>
            </a:r>
            <a:endParaRPr>
              <a:solidFill>
                <a:schemeClr val="dk2"/>
              </a:solidFill>
              <a:latin typeface="Lato"/>
              <a:ea typeface="Lato"/>
              <a:cs typeface="Lato"/>
              <a:sym typeface="Lato"/>
            </a:endParaRPr>
          </a:p>
          <a:p>
            <a:pPr indent="0" lvl="0" marL="0" rtl="0" algn="l">
              <a:lnSpc>
                <a:spcPct val="115000"/>
              </a:lnSpc>
              <a:spcBef>
                <a:spcPts val="1100"/>
              </a:spcBef>
              <a:spcAft>
                <a:spcPts val="0"/>
              </a:spcAft>
              <a:buClr>
                <a:schemeClr val="dk2"/>
              </a:buClr>
              <a:buSzPts val="1100"/>
              <a:buFont typeface="Arial"/>
              <a:buNone/>
            </a:pPr>
            <a:r>
              <a:rPr b="1" lang="it" sz="1800">
                <a:solidFill>
                  <a:schemeClr val="dk1"/>
                </a:solidFill>
                <a:latin typeface="Lato"/>
                <a:ea typeface="Lato"/>
                <a:cs typeface="Lato"/>
                <a:sym typeface="Lato"/>
              </a:rPr>
              <a:t>Disaccoppiamento I/O</a:t>
            </a:r>
            <a:br>
              <a:rPr b="1" lang="it" sz="1800">
                <a:solidFill>
                  <a:schemeClr val="dk1"/>
                </a:solidFill>
                <a:latin typeface="Lato"/>
                <a:ea typeface="Lato"/>
                <a:cs typeface="Lato"/>
                <a:sym typeface="Lato"/>
              </a:rPr>
            </a:br>
            <a:r>
              <a:rPr lang="it">
                <a:solidFill>
                  <a:schemeClr val="dk2"/>
                </a:solidFill>
                <a:latin typeface="Lato"/>
                <a:ea typeface="Lato"/>
                <a:cs typeface="Lato"/>
                <a:sym typeface="Lato"/>
              </a:rPr>
              <a:t>Un thread isolato consuma i messaggi nel canale ed esegue l’invio asincrono sul ws</a:t>
            </a:r>
            <a:endParaRPr sz="1800">
              <a:solidFill>
                <a:schemeClr val="dk2"/>
              </a:solidFill>
              <a:latin typeface="Lato"/>
              <a:ea typeface="Lato"/>
              <a:cs typeface="Lato"/>
              <a:sym typeface="Lato"/>
            </a:endParaRPr>
          </a:p>
          <a:p>
            <a:pPr indent="0" lvl="0" marL="0" rtl="0" algn="l">
              <a:spcBef>
                <a:spcPts val="110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Prestazioni e Dimensioni</a:t>
            </a:r>
            <a:endParaRPr b="0" sz="1556">
              <a:latin typeface="Roboto Mono ExtraLight"/>
              <a:ea typeface="Roboto Mono ExtraLight"/>
              <a:cs typeface="Roboto Mono ExtraLight"/>
              <a:sym typeface="Roboto Mono ExtraLight"/>
            </a:endParaRPr>
          </a:p>
        </p:txBody>
      </p:sp>
      <p:sp>
        <p:nvSpPr>
          <p:cNvPr id="255" name="Google Shape;255;p33"/>
          <p:cNvSpPr txBox="1"/>
          <p:nvPr/>
        </p:nvSpPr>
        <p:spPr>
          <a:xfrm>
            <a:off x="2400250" y="1284738"/>
            <a:ext cx="6579600" cy="74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lang="it" sz="1600">
                <a:solidFill>
                  <a:schemeClr val="dk2"/>
                </a:solidFill>
                <a:latin typeface="Lato"/>
                <a:ea typeface="Lato"/>
                <a:cs typeface="Lato"/>
                <a:sym typeface="Lato"/>
              </a:rPr>
              <a:t>Misurazione asincrona, eseguito da un thread separato, ogni 2 minuti.</a:t>
            </a:r>
            <a:br>
              <a:rPr lang="it" sz="1600">
                <a:solidFill>
                  <a:schemeClr val="dk2"/>
                </a:solidFill>
                <a:latin typeface="Lato"/>
                <a:ea typeface="Lato"/>
                <a:cs typeface="Lato"/>
                <a:sym typeface="Lato"/>
              </a:rPr>
            </a:br>
            <a:r>
              <a:rPr lang="it" sz="1600">
                <a:solidFill>
                  <a:schemeClr val="dk2"/>
                </a:solidFill>
                <a:latin typeface="Lato"/>
                <a:ea typeface="Lato"/>
                <a:cs typeface="Lato"/>
                <a:sym typeface="Lato"/>
              </a:rPr>
              <a:t>Salvataggio dei dati su un file di log.</a:t>
            </a:r>
            <a:endParaRPr sz="1600">
              <a:solidFill>
                <a:schemeClr val="dk2"/>
              </a:solidFill>
              <a:latin typeface="Lato"/>
              <a:ea typeface="Lato"/>
              <a:cs typeface="Lato"/>
              <a:sym typeface="Lato"/>
            </a:endParaRPr>
          </a:p>
          <a:p>
            <a:pPr indent="0" lvl="0" marL="0" rtl="0" algn="l">
              <a:lnSpc>
                <a:spcPct val="115000"/>
              </a:lnSpc>
              <a:spcBef>
                <a:spcPts val="1100"/>
              </a:spcBef>
              <a:spcAft>
                <a:spcPts val="0"/>
              </a:spcAft>
              <a:buClr>
                <a:schemeClr val="dk2"/>
              </a:buClr>
              <a:buSzPts val="1100"/>
              <a:buFont typeface="Arial"/>
              <a:buNone/>
            </a:pPr>
            <a:r>
              <a:t/>
            </a:r>
            <a:endParaRPr sz="1800">
              <a:solidFill>
                <a:schemeClr val="dk2"/>
              </a:solidFill>
              <a:latin typeface="Courier New"/>
              <a:ea typeface="Courier New"/>
              <a:cs typeface="Courier New"/>
              <a:sym typeface="Courier New"/>
            </a:endParaRPr>
          </a:p>
          <a:p>
            <a:pPr indent="0" lvl="0" marL="0" rtl="0" algn="l">
              <a:lnSpc>
                <a:spcPct val="115000"/>
              </a:lnSpc>
              <a:spcBef>
                <a:spcPts val="1100"/>
              </a:spcBef>
              <a:spcAft>
                <a:spcPts val="0"/>
              </a:spcAft>
              <a:buClr>
                <a:schemeClr val="dk2"/>
              </a:buClr>
              <a:buSzPts val="1100"/>
              <a:buFont typeface="Arial"/>
              <a:buNone/>
            </a:pPr>
            <a:r>
              <a:t/>
            </a:r>
            <a:endParaRPr sz="1800">
              <a:solidFill>
                <a:schemeClr val="dk2"/>
              </a:solidFill>
              <a:latin typeface="Courier New"/>
              <a:ea typeface="Courier New"/>
              <a:cs typeface="Courier New"/>
              <a:sym typeface="Courier New"/>
            </a:endParaRPr>
          </a:p>
          <a:p>
            <a:pPr indent="0" lvl="0" marL="0" rtl="0" algn="l">
              <a:lnSpc>
                <a:spcPct val="115000"/>
              </a:lnSpc>
              <a:spcBef>
                <a:spcPts val="1100"/>
              </a:spcBef>
              <a:spcAft>
                <a:spcPts val="0"/>
              </a:spcAft>
              <a:buClr>
                <a:schemeClr val="dk2"/>
              </a:buClr>
              <a:buSzPts val="1100"/>
              <a:buFont typeface="Arial"/>
              <a:buNone/>
            </a:pPr>
            <a:r>
              <a:t/>
            </a:r>
            <a:endParaRPr sz="1800">
              <a:solidFill>
                <a:schemeClr val="dk2"/>
              </a:solidFill>
              <a:latin typeface="Courier New"/>
              <a:ea typeface="Courier New"/>
              <a:cs typeface="Courier New"/>
              <a:sym typeface="Courier New"/>
            </a:endParaRPr>
          </a:p>
          <a:p>
            <a:pPr indent="0" lvl="0" marL="0" rtl="0" algn="l">
              <a:spcBef>
                <a:spcPts val="1100"/>
              </a:spcBef>
              <a:spcAft>
                <a:spcPts val="0"/>
              </a:spcAft>
              <a:buNone/>
            </a:pPr>
            <a:r>
              <a:t/>
            </a:r>
            <a:endParaRPr sz="1800">
              <a:solidFill>
                <a:schemeClr val="dk2"/>
              </a:solidFill>
              <a:latin typeface="Lato"/>
              <a:ea typeface="Lato"/>
              <a:cs typeface="Lato"/>
              <a:sym typeface="Lato"/>
            </a:endParaRPr>
          </a:p>
        </p:txBody>
      </p:sp>
      <p:pic>
        <p:nvPicPr>
          <p:cNvPr id="256" name="Google Shape;256;p33"/>
          <p:cNvPicPr preferRelativeResize="0"/>
          <p:nvPr/>
        </p:nvPicPr>
        <p:blipFill rotWithShape="1">
          <a:blip r:embed="rId3">
            <a:alphaModFix/>
          </a:blip>
          <a:srcRect b="0" l="0" r="0" t="64182"/>
          <a:stretch/>
        </p:blipFill>
        <p:spPr>
          <a:xfrm>
            <a:off x="3032125" y="2026649"/>
            <a:ext cx="5057850" cy="1341475"/>
          </a:xfrm>
          <a:prstGeom prst="rect">
            <a:avLst/>
          </a:prstGeom>
          <a:noFill/>
          <a:ln>
            <a:noFill/>
          </a:ln>
        </p:spPr>
      </p:pic>
      <p:graphicFrame>
        <p:nvGraphicFramePr>
          <p:cNvPr id="257" name="Google Shape;257;p33"/>
          <p:cNvGraphicFramePr/>
          <p:nvPr/>
        </p:nvGraphicFramePr>
        <p:xfrm>
          <a:off x="6198125" y="3814125"/>
          <a:ext cx="3000000" cy="3000000"/>
        </p:xfrm>
        <a:graphic>
          <a:graphicData uri="http://schemas.openxmlformats.org/drawingml/2006/table">
            <a:tbl>
              <a:tblPr>
                <a:noFill/>
                <a:tableStyleId>{4B282CA8-A444-450C-8F9A-98A653A8795C}</a:tableStyleId>
              </a:tblPr>
              <a:tblGrid>
                <a:gridCol w="792825"/>
                <a:gridCol w="1165275"/>
              </a:tblGrid>
              <a:tr h="381000">
                <a:tc>
                  <a:txBody>
                    <a:bodyPr/>
                    <a:lstStyle/>
                    <a:p>
                      <a:pPr indent="0" lvl="0" marL="0" rtl="0" algn="l">
                        <a:spcBef>
                          <a:spcPts val="0"/>
                        </a:spcBef>
                        <a:spcAft>
                          <a:spcPts val="0"/>
                        </a:spcAft>
                        <a:buNone/>
                      </a:pPr>
                      <a:r>
                        <a:rPr lang="it"/>
                        <a:t>MacOS</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it"/>
                        <a:t>6.8 MB</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t>Ubuntu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it"/>
                        <a:t>8.1 MB</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258" name="Google Shape;258;p33"/>
          <p:cNvSpPr txBox="1"/>
          <p:nvPr/>
        </p:nvSpPr>
        <p:spPr>
          <a:xfrm>
            <a:off x="2400250" y="3974970"/>
            <a:ext cx="6579600" cy="47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None/>
            </a:pPr>
            <a:r>
              <a:rPr lang="it" sz="1600">
                <a:solidFill>
                  <a:schemeClr val="dk2"/>
                </a:solidFill>
                <a:latin typeface="Lato"/>
                <a:ea typeface="Lato"/>
                <a:cs typeface="Lato"/>
                <a:sym typeface="Lato"/>
              </a:rPr>
              <a:t>Dimensioni dell’eseguibile (lato server):</a:t>
            </a:r>
            <a:endParaRPr sz="1600">
              <a:solidFill>
                <a:schemeClr val="dk2"/>
              </a:solidFill>
              <a:latin typeface="Lato"/>
              <a:ea typeface="Lato"/>
              <a:cs typeface="Lato"/>
              <a:sym typeface="Lato"/>
            </a:endParaRPr>
          </a:p>
          <a:p>
            <a:pPr indent="0" lvl="0" marL="0" rtl="0" algn="l">
              <a:lnSpc>
                <a:spcPct val="115000"/>
              </a:lnSpc>
              <a:spcBef>
                <a:spcPts val="1100"/>
              </a:spcBef>
              <a:spcAft>
                <a:spcPts val="0"/>
              </a:spcAft>
              <a:buClr>
                <a:schemeClr val="dk2"/>
              </a:buClr>
              <a:buSzPts val="1100"/>
              <a:buFont typeface="Arial"/>
              <a:buNone/>
            </a:pPr>
            <a:r>
              <a:t/>
            </a:r>
            <a:endParaRPr sz="1800">
              <a:solidFill>
                <a:schemeClr val="dk2"/>
              </a:solidFill>
              <a:latin typeface="Courier New"/>
              <a:ea typeface="Courier New"/>
              <a:cs typeface="Courier New"/>
              <a:sym typeface="Courier New"/>
            </a:endParaRPr>
          </a:p>
          <a:p>
            <a:pPr indent="0" lvl="0" marL="0" rtl="0" algn="l">
              <a:lnSpc>
                <a:spcPct val="115000"/>
              </a:lnSpc>
              <a:spcBef>
                <a:spcPts val="1100"/>
              </a:spcBef>
              <a:spcAft>
                <a:spcPts val="0"/>
              </a:spcAft>
              <a:buClr>
                <a:schemeClr val="dk2"/>
              </a:buClr>
              <a:buSzPts val="1100"/>
              <a:buFont typeface="Arial"/>
              <a:buNone/>
            </a:pPr>
            <a:r>
              <a:t/>
            </a:r>
            <a:endParaRPr sz="1800">
              <a:solidFill>
                <a:schemeClr val="dk2"/>
              </a:solidFill>
              <a:latin typeface="Courier New"/>
              <a:ea typeface="Courier New"/>
              <a:cs typeface="Courier New"/>
              <a:sym typeface="Courier New"/>
            </a:endParaRPr>
          </a:p>
          <a:p>
            <a:pPr indent="0" lvl="0" marL="0" rtl="0" algn="l">
              <a:lnSpc>
                <a:spcPct val="115000"/>
              </a:lnSpc>
              <a:spcBef>
                <a:spcPts val="1100"/>
              </a:spcBef>
              <a:spcAft>
                <a:spcPts val="0"/>
              </a:spcAft>
              <a:buClr>
                <a:schemeClr val="dk2"/>
              </a:buClr>
              <a:buSzPts val="1100"/>
              <a:buFont typeface="Arial"/>
              <a:buNone/>
            </a:pPr>
            <a:r>
              <a:t/>
            </a:r>
            <a:endParaRPr sz="1800">
              <a:solidFill>
                <a:schemeClr val="dk2"/>
              </a:solidFill>
              <a:latin typeface="Courier New"/>
              <a:ea typeface="Courier New"/>
              <a:cs typeface="Courier New"/>
              <a:sym typeface="Courier New"/>
            </a:endParaRPr>
          </a:p>
          <a:p>
            <a:pPr indent="0" lvl="0" marL="0" rtl="0" algn="l">
              <a:spcBef>
                <a:spcPts val="1100"/>
              </a:spcBef>
              <a:spcAft>
                <a:spcPts val="0"/>
              </a:spcAft>
              <a:buNone/>
            </a:pPr>
            <a:r>
              <a:t/>
            </a:r>
            <a:endParaRPr sz="1800">
              <a:solidFill>
                <a:schemeClr val="dk2"/>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ctrTitle"/>
          </p:nvPr>
        </p:nvSpPr>
        <p:spPr>
          <a:xfrm>
            <a:off x="2390275" y="1800750"/>
            <a:ext cx="6331500" cy="96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Grazie dell’attenzione</a:t>
            </a:r>
            <a:endParaRPr/>
          </a:p>
        </p:txBody>
      </p:sp>
      <p:sp>
        <p:nvSpPr>
          <p:cNvPr id="264" name="Google Shape;264;p34"/>
          <p:cNvSpPr txBox="1"/>
          <p:nvPr>
            <p:ph idx="1" type="subTitle"/>
          </p:nvPr>
        </p:nvSpPr>
        <p:spPr>
          <a:xfrm>
            <a:off x="2390275" y="3020325"/>
            <a:ext cx="2891700" cy="1262400"/>
          </a:xfrm>
          <a:prstGeom prst="rect">
            <a:avLst/>
          </a:prstGeom>
        </p:spPr>
        <p:txBody>
          <a:bodyPr anchorCtr="0" anchor="b" bIns="91425" lIns="91425" spcFirstLastPara="1" rIns="91425" wrap="square" tIns="91425">
            <a:normAutofit lnSpcReduction="10000"/>
          </a:bodyPr>
          <a:lstStyle/>
          <a:p>
            <a:pPr indent="0" lvl="0" marL="0" rtl="0" algn="l">
              <a:spcBef>
                <a:spcPts val="0"/>
              </a:spcBef>
              <a:spcAft>
                <a:spcPts val="0"/>
              </a:spcAft>
              <a:buClr>
                <a:schemeClr val="dk2"/>
              </a:buClr>
              <a:buSzPts val="1100"/>
              <a:buFont typeface="Arial"/>
              <a:buNone/>
            </a:pPr>
            <a:r>
              <a:rPr lang="it"/>
              <a:t>Alessio Perrotti: 356737</a:t>
            </a:r>
            <a:endParaRPr/>
          </a:p>
          <a:p>
            <a:pPr indent="0" lvl="0" marL="0" rtl="0" algn="l">
              <a:spcBef>
                <a:spcPts val="0"/>
              </a:spcBef>
              <a:spcAft>
                <a:spcPts val="0"/>
              </a:spcAft>
              <a:buClr>
                <a:schemeClr val="dk2"/>
              </a:buClr>
              <a:buSzPts val="1100"/>
              <a:buFont typeface="Arial"/>
              <a:buNone/>
            </a:pPr>
            <a:r>
              <a:rPr lang="it"/>
              <a:t>Alberto Nuzzaci: 346977</a:t>
            </a:r>
            <a:endParaRPr/>
          </a:p>
          <a:p>
            <a:pPr indent="0" lvl="0" marL="0" rtl="0" algn="l">
              <a:spcBef>
                <a:spcPts val="0"/>
              </a:spcBef>
              <a:spcAft>
                <a:spcPts val="0"/>
              </a:spcAft>
              <a:buClr>
                <a:schemeClr val="dk2"/>
              </a:buClr>
              <a:buSzPts val="1100"/>
              <a:buFont typeface="Arial"/>
              <a:buNone/>
            </a:pPr>
            <a:r>
              <a:rPr lang="it"/>
              <a:t>Riccardo Vaccari: 348856</a:t>
            </a:r>
            <a:endParaRPr/>
          </a:p>
          <a:p>
            <a:pPr indent="0" lvl="0" marL="0" rtl="0" algn="l">
              <a:spcBef>
                <a:spcPts val="0"/>
              </a:spcBef>
              <a:spcAft>
                <a:spcPts val="0"/>
              </a:spcAft>
              <a:buClr>
                <a:schemeClr val="dk2"/>
              </a:buClr>
              <a:buSzPts val="1100"/>
              <a:buFont typeface="Arial"/>
              <a:buNone/>
            </a:pPr>
            <a:r>
              <a:rPr lang="it"/>
              <a:t>Luca Lodesani: 346978</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